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8" r:id="rId2"/>
    <p:sldId id="257" r:id="rId3"/>
    <p:sldId id="300" r:id="rId4"/>
    <p:sldId id="260" r:id="rId5"/>
    <p:sldId id="261" r:id="rId6"/>
    <p:sldId id="262" r:id="rId7"/>
    <p:sldId id="263" r:id="rId8"/>
    <p:sldId id="264" r:id="rId9"/>
    <p:sldId id="267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9" r:id="rId34"/>
    <p:sldId id="295" r:id="rId35"/>
    <p:sldId id="296" r:id="rId36"/>
    <p:sldId id="29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C7B5A9-3936-4D2E-AB0D-9E2853F5C200}" v="15" dt="2026-08-30T18:43:37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m bltr" userId="3a265c5e1e1afab7" providerId="LiveId" clId="{517A78A7-85A4-4BCF-88C0-97073CE97E7C}"/>
    <pc:docChg chg="custSel modSld">
      <pc:chgData name="rm bltr" userId="3a265c5e1e1afab7" providerId="LiveId" clId="{517A78A7-85A4-4BCF-88C0-97073CE97E7C}" dt="2026-08-30T18:44:01.977" v="143" actId="255"/>
      <pc:docMkLst>
        <pc:docMk/>
      </pc:docMkLst>
      <pc:sldChg chg="addSp delSp modSp mod">
        <pc:chgData name="rm bltr" userId="3a265c5e1e1afab7" providerId="LiveId" clId="{517A78A7-85A4-4BCF-88C0-97073CE97E7C}" dt="2026-08-30T18:44:01.977" v="143" actId="255"/>
        <pc:sldMkLst>
          <pc:docMk/>
          <pc:sldMk cId="2615689025" sldId="257"/>
        </pc:sldMkLst>
        <pc:spChg chg="mod">
          <ac:chgData name="rm bltr" userId="3a265c5e1e1afab7" providerId="LiveId" clId="{517A78A7-85A4-4BCF-88C0-97073CE97E7C}" dt="2026-08-30T18:33:58.506" v="38" actId="20577"/>
          <ac:spMkLst>
            <pc:docMk/>
            <pc:sldMk cId="2615689025" sldId="257"/>
            <ac:spMk id="7" creationId="{55DBD264-63C2-213F-0391-F52797A14123}"/>
          </ac:spMkLst>
        </pc:spChg>
        <pc:spChg chg="add del mod">
          <ac:chgData name="rm bltr" userId="3a265c5e1e1afab7" providerId="LiveId" clId="{517A78A7-85A4-4BCF-88C0-97073CE97E7C}" dt="2026-08-30T18:43:30.576" v="123" actId="478"/>
          <ac:spMkLst>
            <pc:docMk/>
            <pc:sldMk cId="2615689025" sldId="257"/>
            <ac:spMk id="16" creationId="{105FBB5E-94B6-48B0-A7CE-0F80A58835CC}"/>
          </ac:spMkLst>
        </pc:spChg>
        <pc:spChg chg="add mod">
          <ac:chgData name="rm bltr" userId="3a265c5e1e1afab7" providerId="LiveId" clId="{517A78A7-85A4-4BCF-88C0-97073CE97E7C}" dt="2026-08-30T18:44:01.977" v="143" actId="255"/>
          <ac:spMkLst>
            <pc:docMk/>
            <pc:sldMk cId="2615689025" sldId="257"/>
            <ac:spMk id="17" creationId="{62DC1111-7B85-D668-72D8-FCDF58FB86E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306E6-4ADE-487C-96C9-50786E7C27FB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3D45F-44A9-407A-A0FA-7E59283130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2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3D45F-44A9-407A-A0FA-7E59283130A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84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3D45F-44A9-407A-A0FA-7E59283130A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255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C3D45F-44A9-407A-A0FA-7E59283130A6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678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97349-8EE9-5DE4-C521-08999B5C5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387A40-BDF8-A2A0-EA93-CED3A4B95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62525-4EC5-6899-D002-C41EDF8F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961ED-7290-6B00-4836-E1324228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9388-C833-B28E-B379-875FEEE6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722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1A89B-CBA9-E9D0-D131-831E97F6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D9B8F-D8E4-5275-98C3-02E5758CC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CC1CA-03B5-A31B-3822-73703AD0B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341D5-7960-3EEB-2883-02AA2C944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4A889-27F7-8D45-059B-88FC5E971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00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7A460-A30D-6B61-D31D-F7852AEA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FD3098-0BC1-FD5F-9BB4-48D97EF6C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B33EE-E230-3C55-FBE5-4786C13A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E71CF-85CC-407B-89B6-4BE1A23C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15700-0B47-7C5B-FC31-F24A9652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75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59A4F-EF0E-8D7D-A7F2-14D4A7510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2F221-6890-EDF9-B3D8-9FC0C3CC1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3AE72-FA53-F265-F0DB-42A7F0E11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06487-076A-ED7A-636E-A06B2C543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E37B0-E703-2A86-9CAD-9275A74DD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9A495-C45C-AA88-AB86-921B535F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095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8913-C5B4-0594-022E-FB80C0B6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2F38E-1F43-5B56-BD39-071212630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7B60EA-1192-5190-3238-67A0C8C76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BC6DA-AC25-BFE5-BBFB-94057C8AE6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0A7E65-C664-0856-4B49-D004C4830E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E0C80-76BF-F09C-29CB-FF818F22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23D21-7723-C443-42D2-BBE40E7CA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E8D97-8FF0-03F6-5671-B47C75E2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521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F7CF-F03F-D131-FCC7-C06E6FF12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D278B3-E2A2-098D-7401-FB484D5F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9F77B-9AB8-A8C4-EDAE-F7453718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94D7E-50CA-1BF6-E69A-52F36189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3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E5B6DB-286C-8A59-9A70-073E4794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230C4-ED48-84F4-A394-095588A1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01D67-33B2-4DAE-71DE-3599F87F9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44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B885-771C-C1DD-5FE6-A4DB4E784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FAAE4-E847-E1C1-690C-099696D85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3240B-E052-45AD-1D6F-9F3213BD7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7279B-6707-98D1-BF64-04062498A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AC858-549A-16EB-C2E9-71C5D90A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18240-538F-23BF-4656-65E04381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261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B50A-2FFE-B8BA-9E2E-84BF3CB09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F89872-A98D-F5F2-637E-DBEE1558A6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06C859-2390-42FC-D68A-E88F8554D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EAC40-35DE-F6B8-1950-EE53FAB6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4F43B1-9B50-CF60-1482-67E97A61E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51050-7070-EA43-5BDC-32410260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7574-551C-D2C0-02A3-EF77313D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86E86-A3B4-7D7C-DC11-FF630BAD6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EAAF1-BA1C-B09F-145C-94DA67DD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A276E-04EA-F917-E0CD-BC6B2DD3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08B62-83BD-C9A3-2D7B-3604D748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704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7FD10-2C83-B859-4B87-E712B3681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53B4F-9023-E825-44C3-821F0D627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BA743C-FF58-01DA-9E42-BB6F9D27B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7D5F7-CC2D-DDD6-9F32-BB273CA1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99F81-84BC-91D2-54EB-7064AAD5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23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C8AEA-15B1-770E-D80B-80BFA2FD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BE9A70-ABB8-58A6-2A8F-F43CE7DA0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CBA64-1C9D-8AEB-3E57-83A09119F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C83FC-609C-45D2-868A-641028C86F4A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30949-BE82-AFFD-C0B8-590D3E04F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2A4FC-B26C-4608-8787-8759D394D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6378C6-823A-481E-A467-A6295A5B84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96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havani-bollepelli" TargetMode="External"/><Relationship Id="rId2" Type="http://schemas.openxmlformats.org/officeDocument/2006/relationships/hyperlink" Target="https://www.linkedin.com/in/bhavani-bollepelli-1a7ba0422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Red powerpoint background simple Images - Free Download on Magnific (formerly Freepik)">
            <a:extLst>
              <a:ext uri="{FF2B5EF4-FFF2-40B4-BE49-F238E27FC236}">
                <a16:creationId xmlns:a16="http://schemas.microsoft.com/office/drawing/2014/main" id="{020378C9-E2DC-CE0D-87BD-C760B8EA2E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3ABA8E-4060-5897-CE5E-01BB73F14847}"/>
              </a:ext>
            </a:extLst>
          </p:cNvPr>
          <p:cNvSpPr txBox="1"/>
          <p:nvPr/>
        </p:nvSpPr>
        <p:spPr>
          <a:xfrm>
            <a:off x="4218039" y="1752863"/>
            <a:ext cx="3362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i="0" dirty="0">
                <a:solidFill>
                  <a:srgbClr val="FF0000"/>
                </a:solidFill>
                <a:effectLst/>
              </a:rPr>
              <a:t>PROJECT ON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F36AF9-3D83-7624-229A-5BEDA12E1FB0}"/>
              </a:ext>
            </a:extLst>
          </p:cNvPr>
          <p:cNvSpPr txBox="1"/>
          <p:nvPr/>
        </p:nvSpPr>
        <p:spPr>
          <a:xfrm>
            <a:off x="3234813" y="2591879"/>
            <a:ext cx="46408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effectLst/>
              </a:rPr>
              <a:t>Last Mile Delivery Analysis</a:t>
            </a:r>
            <a:endParaRPr lang="en-IN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BAEF7-6E3F-E82D-E8E4-6A28499E7939}"/>
              </a:ext>
            </a:extLst>
          </p:cNvPr>
          <p:cNvSpPr txBox="1"/>
          <p:nvPr/>
        </p:nvSpPr>
        <p:spPr>
          <a:xfrm>
            <a:off x="2507226" y="320518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1800" b="1" i="0" dirty="0">
                <a:solidFill>
                  <a:schemeClr val="tx1"/>
                </a:solidFill>
                <a:effectLst/>
              </a:rPr>
              <a:t>A DATABASE USING MYSQL</a:t>
            </a:r>
            <a:endParaRPr lang="en-IN" sz="1800" dirty="0">
              <a:effectLst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18097E-7754-625C-6C48-3852BD241EA2}"/>
              </a:ext>
            </a:extLst>
          </p:cNvPr>
          <p:cNvSpPr txBox="1"/>
          <p:nvPr/>
        </p:nvSpPr>
        <p:spPr>
          <a:xfrm>
            <a:off x="2507226" y="406793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2400" b="1" i="0" dirty="0">
                <a:solidFill>
                  <a:schemeClr val="tx1"/>
                </a:solidFill>
                <a:effectLst/>
              </a:rPr>
              <a:t>Presented by</a:t>
            </a:r>
            <a:endParaRPr lang="en-IN" sz="2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04BF31-171A-498A-3919-410FA9B3C7C1}"/>
              </a:ext>
            </a:extLst>
          </p:cNvPr>
          <p:cNvSpPr txBox="1"/>
          <p:nvPr/>
        </p:nvSpPr>
        <p:spPr>
          <a:xfrm>
            <a:off x="2851354" y="478953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IN" sz="4000" b="1" i="0" dirty="0">
                <a:solidFill>
                  <a:schemeClr val="accent5">
                    <a:lumMod val="75000"/>
                  </a:schemeClr>
                </a:solidFill>
                <a:effectLst/>
              </a:rPr>
              <a:t>Bhavani Bollepelli</a:t>
            </a:r>
            <a:endParaRPr lang="en-IN" sz="4000" dirty="0">
              <a:solidFill>
                <a:schemeClr val="accent5">
                  <a:lumMod val="75000"/>
                </a:schemeClr>
              </a:solidFill>
              <a:effectLst/>
            </a:endParaRPr>
          </a:p>
        </p:txBody>
      </p:sp>
      <p:pic>
        <p:nvPicPr>
          <p:cNvPr id="13" name="Picture 12" descr="innomatics">
            <a:extLst>
              <a:ext uri="{FF2B5EF4-FFF2-40B4-BE49-F238E27FC236}">
                <a16:creationId xmlns:a16="http://schemas.microsoft.com/office/drawing/2014/main" id="{CE1835E2-16E0-E12C-5716-AF25078B6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8415" y="354141"/>
            <a:ext cx="7113621" cy="1270289"/>
          </a:xfrm>
          <a:prstGeom prst="rect">
            <a:avLst/>
          </a:prstGeom>
        </p:spPr>
      </p:pic>
      <p:pic>
        <p:nvPicPr>
          <p:cNvPr id="14" name="Picture 13" descr="Data Science Course for Working Professionals - Innomatics ...">
            <a:extLst>
              <a:ext uri="{FF2B5EF4-FFF2-40B4-BE49-F238E27FC236}">
                <a16:creationId xmlns:a16="http://schemas.microsoft.com/office/drawing/2014/main" id="{135DA5F5-1BCA-AF4D-B9F3-5AEAA2CB7A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289" y="6144220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5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5DBD264-63C2-213F-0391-F52797A14123}"/>
              </a:ext>
            </a:extLst>
          </p:cNvPr>
          <p:cNvSpPr txBox="1"/>
          <p:nvPr/>
        </p:nvSpPr>
        <p:spPr>
          <a:xfrm>
            <a:off x="1415844" y="2500491"/>
            <a:ext cx="97536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400" b="1" dirty="0"/>
              <a:t>Bhavani Bollepelli</a:t>
            </a:r>
            <a:r>
              <a:rPr lang="en-IN" sz="2400" b="1" dirty="0">
                <a:latin typeface="+mn-lt"/>
              </a:rPr>
              <a:t>, </a:t>
            </a:r>
            <a:r>
              <a:rPr lang="en-US" sz="2400" dirty="0" err="1">
                <a:cs typeface="Times New Roman"/>
              </a:rPr>
              <a:t>B.</a:t>
            </a:r>
            <a:r>
              <a:rPr lang="en-US" sz="2400" dirty="0" err="1">
                <a:solidFill>
                  <a:schemeClr val="tx1"/>
                </a:solidFill>
                <a:latin typeface="+mn-lt"/>
                <a:cs typeface="Times New Roman"/>
              </a:rPr>
              <a:t>Tech</a:t>
            </a:r>
            <a:r>
              <a:rPr lang="en-US" sz="2400" dirty="0">
                <a:cs typeface="Times New Roman"/>
              </a:rPr>
              <a:t> – CSE</a:t>
            </a:r>
          </a:p>
          <a:p>
            <a:pPr marL="114300" indent="0">
              <a:buNone/>
            </a:pPr>
            <a:endParaRPr lang="en-US" dirty="0">
              <a:cs typeface="Times New Roman"/>
            </a:endParaRPr>
          </a:p>
          <a:p>
            <a:pPr marL="114300" indent="0">
              <a:buNone/>
            </a:pPr>
            <a:r>
              <a:rPr lang="en-US" sz="2400" b="1" dirty="0">
                <a:solidFill>
                  <a:schemeClr val="tx1"/>
                </a:solidFill>
                <a:latin typeface="+mn-lt"/>
                <a:cs typeface="Times New Roman"/>
              </a:rPr>
              <a:t>Why Data Science? </a:t>
            </a:r>
            <a:endParaRPr lang="en-IN" sz="2400" b="1" dirty="0">
              <a:solidFill>
                <a:schemeClr val="tx1"/>
              </a:solidFill>
              <a:latin typeface="+mn-lt"/>
              <a:cs typeface="Times New Roman"/>
            </a:endParaRPr>
          </a:p>
          <a:p>
            <a:pPr marL="114300" indent="0">
              <a:buNone/>
            </a:pPr>
            <a:r>
              <a:rPr lang="en-AE" sz="2000" dirty="0"/>
              <a:t>Data science gives you the ultimate power to predict trends and guide massive choices using everyday data. It has many open roles, high demand, good pay, job flexibility etc..</a:t>
            </a:r>
          </a:p>
          <a:p>
            <a:pPr marL="114300" indent="0">
              <a:buNone/>
            </a:pPr>
            <a:endParaRPr lang="en-AE" dirty="0"/>
          </a:p>
          <a:p>
            <a:pPr marL="114300" indent="0">
              <a:buNone/>
            </a:pPr>
            <a:r>
              <a:rPr lang="en-US" sz="2400" b="1" spc="-10" dirty="0">
                <a:solidFill>
                  <a:schemeClr val="tx1"/>
                </a:solidFill>
                <a:uFill>
                  <a:solidFill>
                    <a:srgbClr val="0462C1"/>
                  </a:solidFill>
                </a:uFill>
                <a:latin typeface="+mn-lt"/>
                <a:cs typeface="Times New Roman"/>
              </a:rPr>
              <a:t>Work Experience </a:t>
            </a:r>
            <a:r>
              <a:rPr lang="en-US" sz="2400" b="1" spc="-10" dirty="0"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:</a:t>
            </a:r>
            <a:r>
              <a:rPr lang="en-US" b="1" spc="-10" dirty="0">
                <a:uFill>
                  <a:solidFill>
                    <a:srgbClr val="0462C1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uFill>
                  <a:solidFill>
                    <a:srgbClr val="0462C1"/>
                  </a:solidFill>
                </a:uFill>
                <a:cs typeface="Times New Roman"/>
              </a:rPr>
              <a:t>Fresher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AE4D8F-1806-644D-B9C8-958476E4C473}"/>
              </a:ext>
            </a:extLst>
          </p:cNvPr>
          <p:cNvSpPr txBox="1">
            <a:spLocks/>
          </p:cNvSpPr>
          <p:nvPr/>
        </p:nvSpPr>
        <p:spPr>
          <a:xfrm>
            <a:off x="1150938" y="1120748"/>
            <a:ext cx="11041062" cy="7572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b="1" dirty="0">
                <a:solidFill>
                  <a:srgbClr val="FF0000"/>
                </a:solidFill>
              </a:rPr>
              <a:t>About Me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DC1111-7B85-D668-72D8-FCDF58FB86EE}"/>
              </a:ext>
            </a:extLst>
          </p:cNvPr>
          <p:cNvSpPr txBox="1"/>
          <p:nvPr/>
        </p:nvSpPr>
        <p:spPr>
          <a:xfrm>
            <a:off x="1553497" y="5205112"/>
            <a:ext cx="2369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 err="1">
                <a:solidFill>
                  <a:srgbClr val="0066CC"/>
                </a:solidFill>
                <a:hlinkClick r:id="rId2"/>
              </a:rPr>
              <a:t>Linkedin</a:t>
            </a:r>
            <a:r>
              <a:rPr lang="en-IN" sz="2400" b="1" u="sng" dirty="0">
                <a:solidFill>
                  <a:srgbClr val="0066CC"/>
                </a:solidFill>
                <a:hlinkClick r:id="rId2"/>
              </a:rPr>
              <a:t>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3497" y="5776505"/>
            <a:ext cx="23695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u="sng" dirty="0">
                <a:solidFill>
                  <a:srgbClr val="0066CC"/>
                </a:solidFill>
                <a:hlinkClick r:id="rId3"/>
              </a:rPr>
              <a:t>GitHub Profile</a:t>
            </a:r>
          </a:p>
        </p:txBody>
      </p:sp>
      <p:pic>
        <p:nvPicPr>
          <p:cNvPr id="5" name="Picture 4" descr="Data Science Course for Working Professionals - Innomatics ...">
            <a:extLst>
              <a:ext uri="{FF2B5EF4-FFF2-40B4-BE49-F238E27FC236}">
                <a16:creationId xmlns:a16="http://schemas.microsoft.com/office/drawing/2014/main" id="{18FD0501-9009-9D11-085C-BD7F5F52F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89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7D7234-EC81-F020-AB07-00EDFC4534F5}"/>
              </a:ext>
            </a:extLst>
          </p:cNvPr>
          <p:cNvSpPr txBox="1"/>
          <p:nvPr/>
        </p:nvSpPr>
        <p:spPr>
          <a:xfrm>
            <a:off x="550605" y="344147"/>
            <a:ext cx="25465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+mn-lt"/>
              </a:rPr>
              <a:t>Agenda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68167D-CB01-A899-3A43-9F882A3B9430}"/>
              </a:ext>
            </a:extLst>
          </p:cNvPr>
          <p:cNvSpPr txBox="1"/>
          <p:nvPr/>
        </p:nvSpPr>
        <p:spPr>
          <a:xfrm>
            <a:off x="550605" y="1353442"/>
            <a:ext cx="32151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31800">
              <a:spcBef>
                <a:spcPts val="1000"/>
              </a:spcBef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Objective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66A12-9466-16D2-8666-CF769107188F}"/>
              </a:ext>
            </a:extLst>
          </p:cNvPr>
          <p:cNvSpPr txBox="1"/>
          <p:nvPr/>
        </p:nvSpPr>
        <p:spPr>
          <a:xfrm>
            <a:off x="550605" y="2054961"/>
            <a:ext cx="2772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 lvl="0" indent="-342900">
              <a:spcBef>
                <a:spcPts val="1000"/>
              </a:spcBef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Database Structure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082C15-7D1C-5AE4-9764-0F287E2BCAD2}"/>
              </a:ext>
            </a:extLst>
          </p:cNvPr>
          <p:cNvSpPr txBox="1"/>
          <p:nvPr/>
        </p:nvSpPr>
        <p:spPr>
          <a:xfrm>
            <a:off x="550605" y="2714693"/>
            <a:ext cx="22319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31800">
              <a:spcBef>
                <a:spcPts val="1000"/>
              </a:spcBef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ER Diagram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4E7119-7C94-EC9E-1F05-1763A6E5A3F3}"/>
              </a:ext>
            </a:extLst>
          </p:cNvPr>
          <p:cNvSpPr txBox="1"/>
          <p:nvPr/>
        </p:nvSpPr>
        <p:spPr>
          <a:xfrm>
            <a:off x="550605" y="3343088"/>
            <a:ext cx="3048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 lvl="0" indent="-342900">
              <a:spcBef>
                <a:spcPts val="1000"/>
              </a:spcBef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Key Analysis Questions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D6A31A-8E01-EED7-695D-78C1F0F62823}"/>
              </a:ext>
            </a:extLst>
          </p:cNvPr>
          <p:cNvSpPr txBox="1"/>
          <p:nvPr/>
        </p:nvSpPr>
        <p:spPr>
          <a:xfrm>
            <a:off x="550605" y="4012773"/>
            <a:ext cx="30480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8300" indent="-342900">
              <a:spcBef>
                <a:spcPts val="1000"/>
              </a:spcBef>
              <a:buSzPts val="2400"/>
              <a:buFont typeface="Wingdings" panose="05000000000000000000" pitchFamily="2" charset="2"/>
              <a:buChar char="v"/>
            </a:pPr>
            <a:r>
              <a:rPr lang="en-IN" sz="2000" b="1" dirty="0"/>
              <a:t>Key Insights &amp; Findings</a:t>
            </a:r>
          </a:p>
          <a:p>
            <a:pPr marL="25400" lvl="0">
              <a:spcBef>
                <a:spcPts val="1000"/>
              </a:spcBef>
              <a:buSzPts val="2400"/>
            </a:pPr>
            <a:r>
              <a:rPr lang="en-US" sz="2000" b="1" dirty="0"/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728AF4-BBFB-47E5-754D-DD7CB51524D4}"/>
              </a:ext>
            </a:extLst>
          </p:cNvPr>
          <p:cNvSpPr txBox="1"/>
          <p:nvPr/>
        </p:nvSpPr>
        <p:spPr>
          <a:xfrm>
            <a:off x="550605" y="4704339"/>
            <a:ext cx="33233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Experience/Challenges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8C81F2-8A78-A26C-1969-E4E3E18E3BD0}"/>
              </a:ext>
            </a:extLst>
          </p:cNvPr>
          <p:cNvSpPr txBox="1"/>
          <p:nvPr/>
        </p:nvSpPr>
        <p:spPr>
          <a:xfrm>
            <a:off x="550605" y="5395905"/>
            <a:ext cx="20352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indent="-431800">
              <a:buSzPts val="2400"/>
              <a:buFont typeface="Wingdings" panose="05000000000000000000" pitchFamily="2" charset="2"/>
              <a:buChar char="v"/>
            </a:pPr>
            <a:r>
              <a:rPr lang="en-US" sz="2000" b="1" dirty="0"/>
              <a:t>Conclusion</a:t>
            </a:r>
            <a:endParaRPr lang="en-US" sz="2000" dirty="0"/>
          </a:p>
        </p:txBody>
      </p:sp>
      <p:pic>
        <p:nvPicPr>
          <p:cNvPr id="19" name="Picture 18" descr="Data Science Course for Working Professionals - Innomatics ...">
            <a:extLst>
              <a:ext uri="{FF2B5EF4-FFF2-40B4-BE49-F238E27FC236}">
                <a16:creationId xmlns:a16="http://schemas.microsoft.com/office/drawing/2014/main" id="{0DA175EF-4889-36E7-1EEF-650C0173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8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8BD71D-90CF-5C07-2A84-88225B046015}"/>
              </a:ext>
            </a:extLst>
          </p:cNvPr>
          <p:cNvSpPr txBox="1"/>
          <p:nvPr/>
        </p:nvSpPr>
        <p:spPr>
          <a:xfrm>
            <a:off x="481781" y="770787"/>
            <a:ext cx="6096000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300" b="1" dirty="0">
                <a:solidFill>
                  <a:srgbClr val="FF0000"/>
                </a:solidFill>
                <a:latin typeface="+mn-lt"/>
              </a:rPr>
              <a:t>Objective of the Project :</a:t>
            </a:r>
            <a:br>
              <a:rPr lang="en-IN" sz="3300" b="1" dirty="0">
                <a:solidFill>
                  <a:srgbClr val="FF0000"/>
                </a:solidFill>
              </a:rPr>
            </a:b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5107B0-6FB5-29A6-C7E1-F796A857CE63}"/>
              </a:ext>
            </a:extLst>
          </p:cNvPr>
          <p:cNvSpPr txBox="1"/>
          <p:nvPr/>
        </p:nvSpPr>
        <p:spPr>
          <a:xfrm>
            <a:off x="481780" y="1837073"/>
            <a:ext cx="1075649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</a:rPr>
              <a:t>Analyze delivery performance based on delivery status, duration, distance, and attempts.</a:t>
            </a:r>
          </a:p>
          <a:p>
            <a:pPr lvl="0" algn="l" rtl="0"/>
            <a:endParaRPr lang="en-IN" sz="2000" dirty="0">
              <a:effectLst/>
            </a:endParaRP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</a:rPr>
              <a:t>Evaluate driver and vehicle performance to identify efficient and underperforming resources.</a:t>
            </a:r>
          </a:p>
          <a:p>
            <a:pPr lvl="0" algn="l" rtl="0"/>
            <a:endParaRPr lang="en-IN" sz="2000" dirty="0">
              <a:effectLst/>
            </a:endParaRP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</a:rPr>
              <a:t>Identify high-performing and problematic delivery zones based on delivery activity and outcomes</a:t>
            </a:r>
          </a:p>
          <a:p>
            <a:pPr lvl="0" algn="l" rtl="0"/>
            <a:endParaRPr lang="en-IN" sz="2000" dirty="0">
              <a:effectLst/>
            </a:endParaRP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</a:rPr>
              <a:t>Understand customer and order patterns by analyzing customer types, order frequency, and order values.</a:t>
            </a:r>
          </a:p>
          <a:p>
            <a:pPr lvl="0" algn="l" rtl="0"/>
            <a:endParaRPr lang="en-IN" sz="2000" dirty="0">
              <a:effectLst/>
            </a:endParaRPr>
          </a:p>
          <a:p>
            <a:pPr marL="342900" lvl="0" indent="-342900" algn="l" rtl="0"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tx1"/>
                </a:solidFill>
                <a:effectLst/>
              </a:rPr>
              <a:t>Generate actionable insights to reduce delivery delays, improve success rates, and increase overall delivery efficiency</a:t>
            </a:r>
            <a:r>
              <a:rPr lang="en-IN" sz="1800" b="0" i="0" dirty="0">
                <a:solidFill>
                  <a:schemeClr val="tx1"/>
                </a:solidFill>
                <a:effectLst/>
              </a:rPr>
              <a:t>.</a:t>
            </a:r>
            <a:endParaRPr lang="en-IN" sz="2500" dirty="0">
              <a:effectLst/>
            </a:endParaRPr>
          </a:p>
        </p:txBody>
      </p:sp>
      <p:pic>
        <p:nvPicPr>
          <p:cNvPr id="8" name="Picture 7" descr="Data Science Course for Working Professionals - Innomatics ...">
            <a:extLst>
              <a:ext uri="{FF2B5EF4-FFF2-40B4-BE49-F238E27FC236}">
                <a16:creationId xmlns:a16="http://schemas.microsoft.com/office/drawing/2014/main" id="{4F485960-69B5-3EB2-3752-2C99BABA3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155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74A7E4-EDC3-04C3-CF9D-FD91B5312FEB}"/>
              </a:ext>
            </a:extLst>
          </p:cNvPr>
          <p:cNvSpPr txBox="1"/>
          <p:nvPr/>
        </p:nvSpPr>
        <p:spPr>
          <a:xfrm>
            <a:off x="727587" y="598506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Database Structure :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552B5F-5017-CAB4-6C4F-369FC0B97E56}"/>
              </a:ext>
            </a:extLst>
          </p:cNvPr>
          <p:cNvSpPr txBox="1"/>
          <p:nvPr/>
        </p:nvSpPr>
        <p:spPr>
          <a:xfrm>
            <a:off x="727587" y="19912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AE" sz="2400" dirty="0"/>
              <a:t>This project contains </a:t>
            </a:r>
            <a:r>
              <a:rPr lang="en-AE" sz="2400" b="1" dirty="0"/>
              <a:t>5 interrelated tables</a:t>
            </a:r>
            <a:r>
              <a:rPr lang="en-AE" sz="2400" dirty="0"/>
              <a:t>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19822-4420-D31D-7956-D7329B8536BD}"/>
              </a:ext>
            </a:extLst>
          </p:cNvPr>
          <p:cNvSpPr txBox="1"/>
          <p:nvPr/>
        </p:nvSpPr>
        <p:spPr>
          <a:xfrm>
            <a:off x="560439" y="5172858"/>
            <a:ext cx="108056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lvl="0" indent="0">
              <a:buNone/>
            </a:pPr>
            <a:r>
              <a:rPr lang="en-AE" sz="2400" dirty="0"/>
              <a:t>These tables are connected using </a:t>
            </a:r>
            <a:r>
              <a:rPr lang="en-AE" sz="2400" b="1" dirty="0"/>
              <a:t>Primary Keys</a:t>
            </a:r>
            <a:r>
              <a:rPr lang="en-AE" sz="2400" dirty="0"/>
              <a:t> and </a:t>
            </a:r>
            <a:r>
              <a:rPr lang="en-AE" sz="2400" b="1" dirty="0"/>
              <a:t>Foreign Keys</a:t>
            </a:r>
            <a:r>
              <a:rPr lang="en-AE" sz="2400" dirty="0"/>
              <a:t> to maintain relational database integrity.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686942-9F77-730E-F4FE-E0934F5765F0}"/>
              </a:ext>
            </a:extLst>
          </p:cNvPr>
          <p:cNvSpPr txBox="1"/>
          <p:nvPr/>
        </p:nvSpPr>
        <p:spPr>
          <a:xfrm>
            <a:off x="953730" y="2636414"/>
            <a:ext cx="6096000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Customers</a:t>
            </a:r>
            <a:r>
              <a:rPr lang="en-IN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Orders</a:t>
            </a:r>
            <a:r>
              <a:rPr lang="en-IN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Drivers</a:t>
            </a:r>
            <a:r>
              <a:rPr lang="en-IN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Vehicles</a:t>
            </a:r>
            <a:r>
              <a:rPr lang="en-IN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Deliveries</a:t>
            </a:r>
            <a:endParaRPr lang="en-IN" sz="2000" dirty="0"/>
          </a:p>
        </p:txBody>
      </p:sp>
      <p:pic>
        <p:nvPicPr>
          <p:cNvPr id="8" name="Picture 7" descr="Data Science Course for Working Professionals - Innomatics ...">
            <a:extLst>
              <a:ext uri="{FF2B5EF4-FFF2-40B4-BE49-F238E27FC236}">
                <a16:creationId xmlns:a16="http://schemas.microsoft.com/office/drawing/2014/main" id="{1336E7BF-B863-1075-01CF-BB67DF712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727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B21DC2-2B68-30AB-DC8A-216D7CBBB495}"/>
              </a:ext>
            </a:extLst>
          </p:cNvPr>
          <p:cNvSpPr txBox="1"/>
          <p:nvPr/>
        </p:nvSpPr>
        <p:spPr>
          <a:xfrm>
            <a:off x="589935" y="17937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  <a:latin typeface="+mn-lt"/>
              </a:rPr>
              <a:t>ER Diagram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5F3566-10BA-4C8C-BA5D-C73A269EE8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548" y="870157"/>
            <a:ext cx="8681883" cy="5562600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EFF8BB31-617F-98E0-5B62-5F7AB7C7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78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23B004F-A42D-64BA-3A5A-05EC87A2257E}"/>
              </a:ext>
            </a:extLst>
          </p:cNvPr>
          <p:cNvSpPr txBox="1"/>
          <p:nvPr/>
        </p:nvSpPr>
        <p:spPr>
          <a:xfrm>
            <a:off x="828575" y="34768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2400"/>
              </a:spcBef>
              <a:buNone/>
            </a:pPr>
            <a:r>
              <a:rPr lang="en-IN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IN" sz="2800" b="1" i="0" u="none" strike="noStrike" dirty="0">
                <a:solidFill>
                  <a:srgbClr val="C00000"/>
                </a:solidFill>
                <a:effectLst/>
                <a:latin typeface="+mn-lt"/>
              </a:rPr>
              <a:t>Basic Analysis / Data Exploration</a:t>
            </a:r>
            <a:endParaRPr lang="en-IN" sz="2800" b="1" dirty="0">
              <a:solidFill>
                <a:srgbClr val="C00000"/>
              </a:solidFill>
              <a:effectLst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A20023-A270-712E-41F7-5752A2C07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756" y="1551386"/>
            <a:ext cx="4699819" cy="11977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919B1C-777D-5903-16A0-473E8EF9E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755" y="3064861"/>
            <a:ext cx="3871245" cy="16447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BE7096-2D65-3A62-47B3-15DFA0F198E1}"/>
              </a:ext>
            </a:extLst>
          </p:cNvPr>
          <p:cNvSpPr txBox="1"/>
          <p:nvPr/>
        </p:nvSpPr>
        <p:spPr>
          <a:xfrm>
            <a:off x="828573" y="964773"/>
            <a:ext cx="681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  </a:t>
            </a: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What is the total number of customers?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D78518-750C-56FD-85EB-F8CA151B42F2}"/>
              </a:ext>
            </a:extLst>
          </p:cNvPr>
          <p:cNvSpPr txBox="1"/>
          <p:nvPr/>
        </p:nvSpPr>
        <p:spPr>
          <a:xfrm>
            <a:off x="828574" y="1536999"/>
            <a:ext cx="13961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400" b="1" dirty="0"/>
              <a:t>Query </a:t>
            </a:r>
            <a:r>
              <a:rPr lang="en-IN" sz="2800" b="1" dirty="0"/>
              <a:t>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B5AB4C-5FE2-E0B5-E446-1510CDFC88CA}"/>
              </a:ext>
            </a:extLst>
          </p:cNvPr>
          <p:cNvSpPr txBox="1"/>
          <p:nvPr/>
        </p:nvSpPr>
        <p:spPr>
          <a:xfrm>
            <a:off x="828573" y="2899379"/>
            <a:ext cx="1582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400" b="1" dirty="0"/>
              <a:t>Output :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1E137C-4583-07F3-0864-51817F96A903}"/>
              </a:ext>
            </a:extLst>
          </p:cNvPr>
          <p:cNvSpPr txBox="1"/>
          <p:nvPr/>
        </p:nvSpPr>
        <p:spPr>
          <a:xfrm>
            <a:off x="828573" y="4485377"/>
            <a:ext cx="94854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</a:t>
            </a:r>
            <a:r>
              <a:rPr lang="en-IN" b="1" dirty="0"/>
              <a:t>total number of customers</a:t>
            </a:r>
            <a:r>
              <a:rPr lang="en-IN" dirty="0"/>
              <a:t> available in the customer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total customer count helps understand the </a:t>
            </a:r>
            <a:r>
              <a:rPr lang="en-IN" b="1" dirty="0"/>
              <a:t>overall customer base</a:t>
            </a:r>
            <a:r>
              <a:rPr lang="en-IN" dirty="0"/>
              <a:t> in the delivery system.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7E969BAA-E059-BCD8-4977-A3CFAA536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107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881B00-3570-BA13-382A-BE95157B633A}"/>
              </a:ext>
            </a:extLst>
          </p:cNvPr>
          <p:cNvSpPr txBox="1"/>
          <p:nvPr/>
        </p:nvSpPr>
        <p:spPr>
          <a:xfrm>
            <a:off x="732502" y="217190"/>
            <a:ext cx="6671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fontAlgn="base">
              <a:buFont typeface="Wingdings" panose="05000000000000000000" pitchFamily="2" charset="2"/>
              <a:buChar char="Ø"/>
            </a:pPr>
            <a:r>
              <a:rPr lang="en-IN" sz="2400" b="1" dirty="0"/>
              <a:t>What is the total number of orders?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AD6E9-F522-1ADC-9A1E-7CC10E747E0A}"/>
              </a:ext>
            </a:extLst>
          </p:cNvPr>
          <p:cNvSpPr txBox="1"/>
          <p:nvPr/>
        </p:nvSpPr>
        <p:spPr>
          <a:xfrm>
            <a:off x="806245" y="1075577"/>
            <a:ext cx="13322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</a:t>
            </a:r>
            <a:r>
              <a:rPr lang="en-IN" sz="2800" b="1" dirty="0"/>
              <a:t> :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01F66B-5655-B9F5-3FF3-4C27F8A68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755" y="1075577"/>
            <a:ext cx="4082397" cy="11563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BF58D3-147D-2246-78B1-A876FB310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05" y="2892449"/>
            <a:ext cx="4404853" cy="115634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5E25230-E745-7603-A84D-C862BC6A76FD}"/>
              </a:ext>
            </a:extLst>
          </p:cNvPr>
          <p:cNvSpPr txBox="1"/>
          <p:nvPr/>
        </p:nvSpPr>
        <p:spPr>
          <a:xfrm>
            <a:off x="732502" y="2754376"/>
            <a:ext cx="16469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IN" sz="2400" b="1" dirty="0"/>
              <a:t>Output</a:t>
            </a:r>
            <a:r>
              <a:rPr lang="en-IN" sz="2800" b="1" dirty="0"/>
              <a:t> :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C25F74-B618-1154-01F6-E40BBF2F4891}"/>
              </a:ext>
            </a:extLst>
          </p:cNvPr>
          <p:cNvSpPr txBox="1"/>
          <p:nvPr/>
        </p:nvSpPr>
        <p:spPr>
          <a:xfrm>
            <a:off x="806244" y="4582094"/>
            <a:ext cx="115430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orders available in the orders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total order count (COUNT(</a:t>
            </a:r>
            <a:r>
              <a:rPr lang="en-IN" dirty="0" err="1"/>
              <a:t>order_id</a:t>
            </a:r>
            <a:r>
              <a:rPr lang="en-IN" dirty="0"/>
              <a:t>)) helps understand the overall order volume in the delivery system.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DBD3240E-D108-2CB1-C9D2-9025D8BBC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91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67071CD-C3F2-19B1-AADB-84D2A0CDBEEA}"/>
              </a:ext>
            </a:extLst>
          </p:cNvPr>
          <p:cNvSpPr txBox="1"/>
          <p:nvPr/>
        </p:nvSpPr>
        <p:spPr>
          <a:xfrm>
            <a:off x="619433" y="45197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How many drivers are currently active?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8CB9F-2BA8-FA09-F9BF-9E1FB7A2B41B}"/>
              </a:ext>
            </a:extLst>
          </p:cNvPr>
          <p:cNvSpPr txBox="1"/>
          <p:nvPr/>
        </p:nvSpPr>
        <p:spPr>
          <a:xfrm>
            <a:off x="717755" y="1211825"/>
            <a:ext cx="1406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04FCC5-07E1-1093-416B-6B4165A21FB6}"/>
              </a:ext>
            </a:extLst>
          </p:cNvPr>
          <p:cNvSpPr txBox="1"/>
          <p:nvPr/>
        </p:nvSpPr>
        <p:spPr>
          <a:xfrm>
            <a:off x="619433" y="2797277"/>
            <a:ext cx="14846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6270B6-3E36-F2E2-2F97-564547E44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427" y="1300609"/>
            <a:ext cx="3215148" cy="99030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C8AF6B-EBB4-AC95-AC92-21ED6B7AD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427" y="2952428"/>
            <a:ext cx="2998838" cy="83747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1B9300-6112-7125-D30B-233328EB57B4}"/>
              </a:ext>
            </a:extLst>
          </p:cNvPr>
          <p:cNvSpPr txBox="1"/>
          <p:nvPr/>
        </p:nvSpPr>
        <p:spPr>
          <a:xfrm>
            <a:off x="717755" y="4357063"/>
            <a:ext cx="10294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active drivers available in the drivers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active driver count (</a:t>
            </a:r>
            <a:r>
              <a:rPr lang="en-IN" dirty="0" err="1"/>
              <a:t>driver_id</a:t>
            </a:r>
            <a:r>
              <a:rPr lang="en-IN" dirty="0"/>
              <a:t>) helps understand the available driving workforce in the delivery system.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3DEFCD4E-F933-6BDF-2E96-384EB19655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52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6311EB-7275-D3C0-EE61-A74CD3AA4F65}"/>
              </a:ext>
            </a:extLst>
          </p:cNvPr>
          <p:cNvSpPr txBox="1"/>
          <p:nvPr/>
        </p:nvSpPr>
        <p:spPr>
          <a:xfrm>
            <a:off x="393289" y="196645"/>
            <a:ext cx="42770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0"/>
              </a:spcBef>
              <a:buNone/>
            </a:pPr>
            <a:r>
              <a:rPr lang="en-IN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IN" sz="2400" b="1" i="0" u="none" strike="noStrike" dirty="0">
                <a:solidFill>
                  <a:srgbClr val="C00000"/>
                </a:solidFill>
                <a:effectLst/>
                <a:latin typeface="+mn-lt"/>
              </a:rPr>
              <a:t>Understand Delivery Demand</a:t>
            </a:r>
            <a:endParaRPr lang="en-IN" sz="24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13D7B-A230-89AA-A582-A4700150F174}"/>
              </a:ext>
            </a:extLst>
          </p:cNvPr>
          <p:cNvSpPr txBox="1"/>
          <p:nvPr/>
        </p:nvSpPr>
        <p:spPr>
          <a:xfrm>
            <a:off x="393289" y="1013584"/>
            <a:ext cx="71873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Wingdings" panose="05000000000000000000" pitchFamily="2" charset="2"/>
              <a:buChar char="Ø"/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the number of orders across delivery zones.</a:t>
            </a:r>
            <a:endParaRPr lang="en-IN" sz="20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B3D8BA-01F0-0BEA-BADF-60802635A1E5}"/>
              </a:ext>
            </a:extLst>
          </p:cNvPr>
          <p:cNvSpPr txBox="1"/>
          <p:nvPr/>
        </p:nvSpPr>
        <p:spPr>
          <a:xfrm>
            <a:off x="393289" y="1645848"/>
            <a:ext cx="1337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72AEC-92F5-3C80-33DF-3D4EE0C3D47A}"/>
              </a:ext>
            </a:extLst>
          </p:cNvPr>
          <p:cNvSpPr txBox="1"/>
          <p:nvPr/>
        </p:nvSpPr>
        <p:spPr>
          <a:xfrm>
            <a:off x="383456" y="3336996"/>
            <a:ext cx="1356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F394B3-0818-26B8-CFDB-6124683B8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476" y="1709086"/>
            <a:ext cx="5605931" cy="12995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E5B0C02-78B2-B8DB-93E7-7743BCD7D5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8338" y="3429001"/>
            <a:ext cx="2899636" cy="1536290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EB00F49C-2907-8DB8-BD58-7300A0992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51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60D900-F47A-083B-5424-5DAF3494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264" y="1153563"/>
            <a:ext cx="4522065" cy="1259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956A43-725E-EB35-BB82-455AEA873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626" y="3048948"/>
            <a:ext cx="3485149" cy="164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EB32F5-651D-78BA-082C-77F3720DDCC7}"/>
              </a:ext>
            </a:extLst>
          </p:cNvPr>
          <p:cNvSpPr txBox="1"/>
          <p:nvPr/>
        </p:nvSpPr>
        <p:spPr>
          <a:xfrm>
            <a:off x="550607" y="502306"/>
            <a:ext cx="7187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orders across different service types.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44218A-5C3F-B938-2355-05959D1538EC}"/>
              </a:ext>
            </a:extLst>
          </p:cNvPr>
          <p:cNvSpPr txBox="1"/>
          <p:nvPr/>
        </p:nvSpPr>
        <p:spPr>
          <a:xfrm>
            <a:off x="442452" y="1153563"/>
            <a:ext cx="121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FBAAAA-A06B-95FA-23D8-785EF43B8627}"/>
              </a:ext>
            </a:extLst>
          </p:cNvPr>
          <p:cNvSpPr txBox="1"/>
          <p:nvPr/>
        </p:nvSpPr>
        <p:spPr>
          <a:xfrm>
            <a:off x="442452" y="2908437"/>
            <a:ext cx="1347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A6B68C-D603-C6D4-1EF2-30F1CB967087}"/>
              </a:ext>
            </a:extLst>
          </p:cNvPr>
          <p:cNvSpPr txBox="1"/>
          <p:nvPr/>
        </p:nvSpPr>
        <p:spPr>
          <a:xfrm>
            <a:off x="550606" y="4819385"/>
            <a:ext cx="102747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number of orders for each service type available in the orders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service-wise order count (</a:t>
            </a:r>
            <a:r>
              <a:rPr lang="en-IN" dirty="0" err="1"/>
              <a:t>service_type</a:t>
            </a:r>
            <a:r>
              <a:rPr lang="en-IN" dirty="0"/>
              <a:t>) helps understand the most commonly used delivery services in the delivery system.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CC39F708-78B5-FC37-2A2B-7DE4E9F2A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4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23CB7D-90C0-4E47-7D60-FF96A4D3F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302" y="1274048"/>
            <a:ext cx="4153182" cy="9873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67DCC8-EBA6-4473-7BB3-B3F73DDDCC95}"/>
              </a:ext>
            </a:extLst>
          </p:cNvPr>
          <p:cNvSpPr txBox="1"/>
          <p:nvPr/>
        </p:nvSpPr>
        <p:spPr>
          <a:xfrm>
            <a:off x="678426" y="4249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Compare orders based on priority</a:t>
            </a:r>
            <a:r>
              <a:rPr lang="en-IN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38181-0BA9-AE70-0C34-B33B8255D621}"/>
              </a:ext>
            </a:extLst>
          </p:cNvPr>
          <p:cNvSpPr txBox="1"/>
          <p:nvPr/>
        </p:nvSpPr>
        <p:spPr>
          <a:xfrm>
            <a:off x="746561" y="1256674"/>
            <a:ext cx="1343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74A7D2-F0F5-9056-57B7-A3D0BBBC9F0A}"/>
              </a:ext>
            </a:extLst>
          </p:cNvPr>
          <p:cNvSpPr txBox="1"/>
          <p:nvPr/>
        </p:nvSpPr>
        <p:spPr>
          <a:xfrm>
            <a:off x="678426" y="2528406"/>
            <a:ext cx="13437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1FBB4B-3B3F-919C-F097-998E463A86CC}"/>
              </a:ext>
            </a:extLst>
          </p:cNvPr>
          <p:cNvSpPr txBox="1"/>
          <p:nvPr/>
        </p:nvSpPr>
        <p:spPr>
          <a:xfrm>
            <a:off x="1065808" y="4507164"/>
            <a:ext cx="10355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number of orders for each priority level by counting </a:t>
            </a:r>
            <a:r>
              <a:rPr lang="en-IN" dirty="0" err="1"/>
              <a:t>order_id</a:t>
            </a:r>
            <a:r>
              <a:rPr lang="en-IN" dirty="0"/>
              <a:t> in the orders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priority-wise order count (COUNT(</a:t>
            </a:r>
            <a:r>
              <a:rPr lang="en-IN" dirty="0" err="1"/>
              <a:t>order_id</a:t>
            </a:r>
            <a:r>
              <a:rPr lang="en-IN" dirty="0"/>
              <a:t>)) helps understand the distribution of orders across different priority levels.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5F8B83-96BE-485E-54D0-38E9E46DF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0302" y="2792361"/>
            <a:ext cx="3150292" cy="1327355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0E9A1174-5A27-E15F-6777-DF07CE731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792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9894EAD-0D0E-9C9D-ED96-F4717C14E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959" y="953730"/>
            <a:ext cx="4158725" cy="1366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0A7446-54AB-A34B-2FF8-34CCA4ED77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3773" y="2782118"/>
            <a:ext cx="3001956" cy="19752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83EB7E-9399-07E9-2179-DA4D05163AEA}"/>
              </a:ext>
            </a:extLst>
          </p:cNvPr>
          <p:cNvSpPr txBox="1"/>
          <p:nvPr/>
        </p:nvSpPr>
        <p:spPr>
          <a:xfrm>
            <a:off x="811321" y="384320"/>
            <a:ext cx="82392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Examine how order volume changes over time.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42C31-A064-C0EB-70AD-960ABC352231}"/>
              </a:ext>
            </a:extLst>
          </p:cNvPr>
          <p:cNvSpPr txBox="1"/>
          <p:nvPr/>
        </p:nvSpPr>
        <p:spPr>
          <a:xfrm>
            <a:off x="717755" y="818771"/>
            <a:ext cx="1278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753D57-650A-8BAC-C78B-E1DD00605593}"/>
              </a:ext>
            </a:extLst>
          </p:cNvPr>
          <p:cNvSpPr txBox="1"/>
          <p:nvPr/>
        </p:nvSpPr>
        <p:spPr>
          <a:xfrm>
            <a:off x="717755" y="2674374"/>
            <a:ext cx="14551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66625E-0D98-3E5B-794D-B8FBE940949E}"/>
              </a:ext>
            </a:extLst>
          </p:cNvPr>
          <p:cNvSpPr txBox="1"/>
          <p:nvPr/>
        </p:nvSpPr>
        <p:spPr>
          <a:xfrm>
            <a:off x="811320" y="5219051"/>
            <a:ext cx="10289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monthly order volume by grouping orders based on the </a:t>
            </a:r>
            <a:r>
              <a:rPr lang="en-IN" dirty="0" err="1"/>
              <a:t>order_date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monthly order volume (COUNT(</a:t>
            </a:r>
            <a:r>
              <a:rPr lang="en-IN" dirty="0" err="1"/>
              <a:t>order_id</a:t>
            </a:r>
            <a:r>
              <a:rPr lang="en-IN" dirty="0"/>
              <a:t>)) helps understand order </a:t>
            </a:r>
          </a:p>
          <a:p>
            <a:pPr lvl="0"/>
            <a:r>
              <a:rPr lang="en-IN" dirty="0"/>
              <a:t>      trends and changes in demand over time.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1D5F6134-7810-477E-AAD6-AA3673E72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936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795211-0587-B74B-F111-BEA0C4A6B621}"/>
              </a:ext>
            </a:extLst>
          </p:cNvPr>
          <p:cNvSpPr txBox="1"/>
          <p:nvPr/>
        </p:nvSpPr>
        <p:spPr>
          <a:xfrm>
            <a:off x="648929" y="30566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Look at order value across different groups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3C01E-8F41-4D22-5A0D-3B8CD7996892}"/>
              </a:ext>
            </a:extLst>
          </p:cNvPr>
          <p:cNvSpPr txBox="1"/>
          <p:nvPr/>
        </p:nvSpPr>
        <p:spPr>
          <a:xfrm>
            <a:off x="855407" y="102641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86E57-E65A-8ED4-398B-ABF257A9A91B}"/>
              </a:ext>
            </a:extLst>
          </p:cNvPr>
          <p:cNvSpPr txBox="1"/>
          <p:nvPr/>
        </p:nvSpPr>
        <p:spPr>
          <a:xfrm>
            <a:off x="934065" y="2827829"/>
            <a:ext cx="1453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212B1E-854E-B75D-89CD-2B75A653B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557" y="1164792"/>
            <a:ext cx="4642850" cy="10117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1C152-9764-FB39-55AC-486D6C9B0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215" y="2897259"/>
            <a:ext cx="4038339" cy="173198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5C2A6DC-787B-6CB9-E87A-0A7DE2D52045}"/>
              </a:ext>
            </a:extLst>
          </p:cNvPr>
          <p:cNvSpPr txBox="1"/>
          <p:nvPr/>
        </p:nvSpPr>
        <p:spPr>
          <a:xfrm>
            <a:off x="934064" y="5075011"/>
            <a:ext cx="874087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calculates the total order value for each service type by summing the </a:t>
            </a:r>
            <a:r>
              <a:rPr lang="en-IN" dirty="0" err="1"/>
              <a:t>total_value</a:t>
            </a:r>
            <a:r>
              <a:rPr lang="en-IN" dirty="0"/>
              <a:t> from the orders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service-wise total order value (SUM(</a:t>
            </a:r>
            <a:r>
              <a:rPr lang="en-IN" dirty="0" err="1"/>
              <a:t>total_value</a:t>
            </a:r>
            <a:r>
              <a:rPr lang="en-IN" dirty="0"/>
              <a:t>)) helps understand which service types contribute the highest order value in the delivery system.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FEB4D523-1C6B-6AB7-7053-50E81930AD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11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C9647D-5414-75B3-E383-853639F0E953}"/>
              </a:ext>
            </a:extLst>
          </p:cNvPr>
          <p:cNvSpPr txBox="1"/>
          <p:nvPr/>
        </p:nvSpPr>
        <p:spPr>
          <a:xfrm>
            <a:off x="698090" y="164631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0A898-1C07-7121-DA24-CB4E5C303213}"/>
              </a:ext>
            </a:extLst>
          </p:cNvPr>
          <p:cNvSpPr txBox="1"/>
          <p:nvPr/>
        </p:nvSpPr>
        <p:spPr>
          <a:xfrm>
            <a:off x="698090" y="36906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2BE57F-57BD-9B67-9ACB-3FFAFC2E6E79}"/>
              </a:ext>
            </a:extLst>
          </p:cNvPr>
          <p:cNvSpPr txBox="1"/>
          <p:nvPr/>
        </p:nvSpPr>
        <p:spPr>
          <a:xfrm>
            <a:off x="491612" y="247096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0"/>
              </a:spcBef>
              <a:buNone/>
            </a:pPr>
            <a:r>
              <a:rPr lang="en-IN" sz="2800" b="1" i="0" u="none" strike="noStrike" dirty="0">
                <a:solidFill>
                  <a:srgbClr val="C00000"/>
                </a:solidFill>
                <a:effectLst/>
                <a:latin typeface="+mn-lt"/>
              </a:rPr>
              <a:t>Understand Customer Order Behaviour</a:t>
            </a:r>
            <a:endParaRPr lang="en-IN" sz="28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D27EC-E62D-B572-44F2-A5A04E0034BC}"/>
              </a:ext>
            </a:extLst>
          </p:cNvPr>
          <p:cNvSpPr txBox="1"/>
          <p:nvPr/>
        </p:nvSpPr>
        <p:spPr>
          <a:xfrm>
            <a:off x="491612" y="807559"/>
            <a:ext cx="91931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customers based on the number of orders they place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61CB44-8079-1AFB-E598-D204C4C03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632" y="1400949"/>
            <a:ext cx="5442487" cy="137021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D2DBEBC-548B-DDF7-C1AB-327FC342C2EE}"/>
              </a:ext>
            </a:extLst>
          </p:cNvPr>
          <p:cNvSpPr txBox="1"/>
          <p:nvPr/>
        </p:nvSpPr>
        <p:spPr>
          <a:xfrm>
            <a:off x="825910" y="5309021"/>
            <a:ext cx="805261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orders placed by each customer by joining customer and order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customer-wise order count (COUNT(</a:t>
            </a:r>
            <a:r>
              <a:rPr lang="en-IN" dirty="0" err="1"/>
              <a:t>order_id</a:t>
            </a:r>
            <a:r>
              <a:rPr lang="en-IN" dirty="0"/>
              <a:t>)) helps understand customer ordering patterns and identify high-order customers.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11CC7C1-DBB5-5269-2D51-0F8C6A176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632" y="3429000"/>
            <a:ext cx="3537534" cy="1381113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1F8ADAA0-9947-DC1A-F9ED-D0A9A327A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1492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82A196-FB05-B8A7-6F1C-D383CF017285}"/>
              </a:ext>
            </a:extLst>
          </p:cNvPr>
          <p:cNvSpPr txBox="1"/>
          <p:nvPr/>
        </p:nvSpPr>
        <p:spPr>
          <a:xfrm>
            <a:off x="481781" y="1114906"/>
            <a:ext cx="1248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4165C-74D5-5C6D-0F88-1C625DA4742B}"/>
              </a:ext>
            </a:extLst>
          </p:cNvPr>
          <p:cNvSpPr txBox="1"/>
          <p:nvPr/>
        </p:nvSpPr>
        <p:spPr>
          <a:xfrm>
            <a:off x="481781" y="3167390"/>
            <a:ext cx="1465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FF3CBD-F51C-737F-9988-ACB968EE7B06}"/>
              </a:ext>
            </a:extLst>
          </p:cNvPr>
          <p:cNvSpPr txBox="1"/>
          <p:nvPr/>
        </p:nvSpPr>
        <p:spPr>
          <a:xfrm>
            <a:off x="481781" y="374487"/>
            <a:ext cx="7187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Identify customers with higher total order value.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AC0648-168E-7185-65CC-98312A25D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787" y="1199536"/>
            <a:ext cx="5456393" cy="1523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8423DA-677B-46AA-72D0-270F11F61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787" y="3303230"/>
            <a:ext cx="4355690" cy="13769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5D53B9E-59E6-AF11-C9B7-5985D19A030C}"/>
              </a:ext>
            </a:extLst>
          </p:cNvPr>
          <p:cNvSpPr txBox="1"/>
          <p:nvPr/>
        </p:nvSpPr>
        <p:spPr>
          <a:xfrm>
            <a:off x="580103" y="5170522"/>
            <a:ext cx="97437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calculates the total order value for each customer by joining customer and order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customer-wise total order value (SUM(</a:t>
            </a:r>
            <a:r>
              <a:rPr lang="en-IN" dirty="0" err="1"/>
              <a:t>total_value</a:t>
            </a:r>
            <a:r>
              <a:rPr lang="en-IN" dirty="0"/>
              <a:t>)) helps understand</a:t>
            </a:r>
          </a:p>
          <a:p>
            <a:pPr lvl="0"/>
            <a:r>
              <a:rPr lang="en-IN" dirty="0"/>
              <a:t>       customer spending patterns and identify high-value customers.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26D7A3C8-EBF9-CE3D-5095-EBC7EF6DF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441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41C358-0B32-6C61-9C4E-7D83164E4F1E}"/>
              </a:ext>
            </a:extLst>
          </p:cNvPr>
          <p:cNvSpPr txBox="1"/>
          <p:nvPr/>
        </p:nvSpPr>
        <p:spPr>
          <a:xfrm>
            <a:off x="462117" y="928093"/>
            <a:ext cx="12290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AFABF-5BD8-F80E-865E-388E83484489}"/>
              </a:ext>
            </a:extLst>
          </p:cNvPr>
          <p:cNvSpPr txBox="1"/>
          <p:nvPr/>
        </p:nvSpPr>
        <p:spPr>
          <a:xfrm>
            <a:off x="462117" y="2494936"/>
            <a:ext cx="14256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98F116-D202-6EEE-C404-4B61B50A7E3E}"/>
              </a:ext>
            </a:extLst>
          </p:cNvPr>
          <p:cNvSpPr txBox="1"/>
          <p:nvPr/>
        </p:nvSpPr>
        <p:spPr>
          <a:xfrm>
            <a:off x="462117" y="344991"/>
            <a:ext cx="74331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customer activity across delivery zones.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7D7691-7FE8-9696-C213-B5C6F52A1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84" y="1189703"/>
            <a:ext cx="4610529" cy="9045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1E4E58-F96E-51A8-5DDC-C54835C6DDCD}"/>
              </a:ext>
            </a:extLst>
          </p:cNvPr>
          <p:cNvSpPr txBox="1"/>
          <p:nvPr/>
        </p:nvSpPr>
        <p:spPr>
          <a:xfrm>
            <a:off x="491612" y="4522375"/>
            <a:ext cx="962578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he query identifies the total number of customers in each delivery zone by grouping customers based on their </a:t>
            </a:r>
            <a:r>
              <a:rPr lang="en-IN" dirty="0" err="1"/>
              <a:t>delivery_zone_id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zone-wise customer count (COUNT(</a:t>
            </a:r>
            <a:r>
              <a:rPr lang="en-IN" dirty="0" err="1"/>
              <a:t>customer_id</a:t>
            </a:r>
            <a:r>
              <a:rPr lang="en-IN" dirty="0"/>
              <a:t>)) helps understand customer distribution across different delivery zones.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F170A54F-E578-E49C-3D68-09D0D4AB0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0E2963C-7FFB-8CEC-A488-637A8C960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3027" y="2675679"/>
            <a:ext cx="3207429" cy="98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389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511FE1-7D56-F5D3-84C8-3BD877C04087}"/>
              </a:ext>
            </a:extLst>
          </p:cNvPr>
          <p:cNvSpPr txBox="1"/>
          <p:nvPr/>
        </p:nvSpPr>
        <p:spPr>
          <a:xfrm>
            <a:off x="393289" y="91208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35532-BA97-BCC9-80F9-E95624203A6A}"/>
              </a:ext>
            </a:extLst>
          </p:cNvPr>
          <p:cNvSpPr txBox="1"/>
          <p:nvPr/>
        </p:nvSpPr>
        <p:spPr>
          <a:xfrm>
            <a:off x="393289" y="303346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F3B1F8-03DE-0397-83EA-06152EEA9B67}"/>
              </a:ext>
            </a:extLst>
          </p:cNvPr>
          <p:cNvSpPr txBox="1"/>
          <p:nvPr/>
        </p:nvSpPr>
        <p:spPr>
          <a:xfrm>
            <a:off x="393289" y="315494"/>
            <a:ext cx="78854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+mn-lt"/>
              </a:rPr>
              <a:t>Look at differences between business and individual customers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ED3502-7116-8056-54B2-E77E8FD0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083" y="1065707"/>
            <a:ext cx="4167917" cy="106213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669A1DF-D197-1CA7-7827-7B471545301E}"/>
              </a:ext>
            </a:extLst>
          </p:cNvPr>
          <p:cNvSpPr txBox="1"/>
          <p:nvPr/>
        </p:nvSpPr>
        <p:spPr>
          <a:xfrm>
            <a:off x="570270" y="4819385"/>
            <a:ext cx="89473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customers for each customer type by grouping customers based on </a:t>
            </a:r>
            <a:r>
              <a:rPr lang="en-IN" dirty="0" err="1"/>
              <a:t>customer_type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customer-type count (COUNT(*)) helps understand the distribution of customers across different customer types.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75FBB30E-C026-9F9E-EEA5-460A77A31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7A249C1-BF66-704E-6F45-ACC65ED4F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309" y="3033467"/>
            <a:ext cx="2573334" cy="112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26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E3C684-0AF8-4ECB-462D-57532AD2F871}"/>
              </a:ext>
            </a:extLst>
          </p:cNvPr>
          <p:cNvSpPr txBox="1"/>
          <p:nvPr/>
        </p:nvSpPr>
        <p:spPr>
          <a:xfrm>
            <a:off x="737420" y="75111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8ED37C-5D8F-7AB6-FFB1-A6AAB6DBD2FB}"/>
              </a:ext>
            </a:extLst>
          </p:cNvPr>
          <p:cNvSpPr txBox="1"/>
          <p:nvPr/>
        </p:nvSpPr>
        <p:spPr>
          <a:xfrm>
            <a:off x="737420" y="260941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38137-F23C-8EA9-5327-F54682EC81BF}"/>
              </a:ext>
            </a:extLst>
          </p:cNvPr>
          <p:cNvSpPr txBox="1"/>
          <p:nvPr/>
        </p:nvSpPr>
        <p:spPr>
          <a:xfrm>
            <a:off x="737420" y="289448"/>
            <a:ext cx="73446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Examine customer ordering patterns over 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325511-C26C-F8E9-CE98-95A85777ED1A}"/>
              </a:ext>
            </a:extLst>
          </p:cNvPr>
          <p:cNvSpPr txBox="1"/>
          <p:nvPr/>
        </p:nvSpPr>
        <p:spPr>
          <a:xfrm>
            <a:off x="589935" y="4467707"/>
            <a:ext cx="99699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number of active customers and total orders for each month by grouping the orders based on the </a:t>
            </a:r>
            <a:r>
              <a:rPr lang="en-IN" dirty="0" err="1"/>
              <a:t>order_date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monthly </a:t>
            </a:r>
            <a:r>
              <a:rPr lang="en-IN" dirty="0" err="1"/>
              <a:t>Active_Customers</a:t>
            </a:r>
            <a:r>
              <a:rPr lang="en-IN" dirty="0"/>
              <a:t> (COUNT(DISTINCT </a:t>
            </a:r>
            <a:r>
              <a:rPr lang="en-IN" dirty="0" err="1"/>
              <a:t>customer_id</a:t>
            </a:r>
            <a:r>
              <a:rPr lang="en-IN" dirty="0"/>
              <a:t>)) and </a:t>
            </a:r>
            <a:r>
              <a:rPr lang="en-IN" dirty="0" err="1"/>
              <a:t>Total_Orders</a:t>
            </a:r>
            <a:r>
              <a:rPr lang="en-IN" dirty="0"/>
              <a:t> (COUNT(</a:t>
            </a:r>
            <a:r>
              <a:rPr lang="en-IN" dirty="0" err="1"/>
              <a:t>order_id</a:t>
            </a:r>
            <a:r>
              <a:rPr lang="en-IN" dirty="0"/>
              <a:t>)) help understand customer activity and order volume trends over time.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5A0A03-6F8D-69DF-5A8D-1C82E7AED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945" y="922655"/>
            <a:ext cx="4451131" cy="18500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2740E3B-C100-465A-4A26-00EA4825E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945" y="2871019"/>
            <a:ext cx="4372475" cy="1425145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5CC4F016-51A9-9A10-326D-41E664288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304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A058E-3BB1-C4A8-D3AC-FB2FF12B7054}"/>
              </a:ext>
            </a:extLst>
          </p:cNvPr>
          <p:cNvSpPr txBox="1"/>
          <p:nvPr/>
        </p:nvSpPr>
        <p:spPr>
          <a:xfrm>
            <a:off x="934065" y="146700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DAED98-4493-1248-3AC9-2A28DDB46F0A}"/>
              </a:ext>
            </a:extLst>
          </p:cNvPr>
          <p:cNvSpPr txBox="1"/>
          <p:nvPr/>
        </p:nvSpPr>
        <p:spPr>
          <a:xfrm>
            <a:off x="934065" y="3167390"/>
            <a:ext cx="1347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52881-AFAB-05E4-3A52-A82799868BF6}"/>
              </a:ext>
            </a:extLst>
          </p:cNvPr>
          <p:cNvSpPr txBox="1"/>
          <p:nvPr/>
        </p:nvSpPr>
        <p:spPr>
          <a:xfrm>
            <a:off x="806246" y="8416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0"/>
              </a:spcBef>
              <a:buNone/>
            </a:pPr>
            <a:r>
              <a:rPr lang="en-IN" sz="2800" b="1" i="0" u="none" strike="noStrike" dirty="0">
                <a:solidFill>
                  <a:srgbClr val="C00000"/>
                </a:solidFill>
                <a:effectLst/>
                <a:latin typeface="+mn-lt"/>
              </a:rPr>
              <a:t>Evaluate Delivery Performance</a:t>
            </a:r>
            <a:endParaRPr lang="en-IN" sz="28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EA4CF7-A1D7-6A2B-338D-7D94B9B4AF9C}"/>
              </a:ext>
            </a:extLst>
          </p:cNvPr>
          <p:cNvSpPr txBox="1"/>
          <p:nvPr/>
        </p:nvSpPr>
        <p:spPr>
          <a:xfrm>
            <a:off x="737418" y="552726"/>
            <a:ext cx="855406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delivery outcomes across different zones (zone information is on the orders table, so you will need to connect orders and deliveries).</a:t>
            </a:r>
            <a:endParaRPr lang="en-IN" sz="20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2A6CE7-5F3E-EB89-187B-D017AE22F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738" y="1471739"/>
            <a:ext cx="4379856" cy="163121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2553E0-B268-ADD1-9613-BD3D74D1E243}"/>
              </a:ext>
            </a:extLst>
          </p:cNvPr>
          <p:cNvSpPr txBox="1"/>
          <p:nvPr/>
        </p:nvSpPr>
        <p:spPr>
          <a:xfrm>
            <a:off x="806245" y="4655790"/>
            <a:ext cx="101272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number of deliveries for each status within each delivery zone by joining orders and deliveries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zone-wise delivery count (COUNT(delivery_id)) helps understand delivery outcomes and performance across different delivery zones.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56D158C-8994-F0D8-88CA-12F3974FA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933" y="3395427"/>
            <a:ext cx="3972364" cy="1029090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7638919C-ECCC-2E23-77B5-25CE29711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83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2A3CAC-2D28-B716-00C7-CD70E859D25D}"/>
              </a:ext>
            </a:extLst>
          </p:cNvPr>
          <p:cNvSpPr txBox="1"/>
          <p:nvPr/>
        </p:nvSpPr>
        <p:spPr>
          <a:xfrm>
            <a:off x="599768" y="81993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0A82EE-CE92-4FF4-76F6-F1ADBECAE7F3}"/>
              </a:ext>
            </a:extLst>
          </p:cNvPr>
          <p:cNvSpPr txBox="1"/>
          <p:nvPr/>
        </p:nvSpPr>
        <p:spPr>
          <a:xfrm>
            <a:off x="599768" y="27863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ED197D-C1D3-69E9-2F79-8FF9C17BAEFA}"/>
              </a:ext>
            </a:extLst>
          </p:cNvPr>
          <p:cNvSpPr txBox="1"/>
          <p:nvPr/>
        </p:nvSpPr>
        <p:spPr>
          <a:xfrm>
            <a:off x="599768" y="26633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Examine delivery duration.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F1D5BB-FA2D-E710-2FA3-1E8D5A686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065" y="1382078"/>
            <a:ext cx="5323141" cy="5146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2DD2AB4-FD35-4ED1-53B5-9E3EBFDE4157}"/>
              </a:ext>
            </a:extLst>
          </p:cNvPr>
          <p:cNvSpPr txBox="1"/>
          <p:nvPr/>
        </p:nvSpPr>
        <p:spPr>
          <a:xfrm>
            <a:off x="560439" y="4275593"/>
            <a:ext cx="98814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calculates the average delivery duration of all deliveries available in the deliveries data.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average delivery duration (AVG(</a:t>
            </a:r>
            <a:r>
              <a:rPr lang="en-IN" dirty="0" err="1"/>
              <a:t>delivery_duration_min</a:t>
            </a:r>
            <a:r>
              <a:rPr lang="en-IN" dirty="0"/>
              <a:t>)) helps understand the typical time taken to complete a delivery.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3D6733-5EC6-D413-BE0B-8CB356209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600" y="2910143"/>
            <a:ext cx="3051303" cy="909091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AE6A7999-81B5-58CE-6645-DEFCC6A7E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056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4EDA60A5-CAC0-505D-FAF4-51FEC98CD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7DD065-AEF1-6834-BADB-C8CAE5BE1133}"/>
              </a:ext>
            </a:extLst>
          </p:cNvPr>
          <p:cNvSpPr txBox="1"/>
          <p:nvPr/>
        </p:nvSpPr>
        <p:spPr>
          <a:xfrm>
            <a:off x="796413" y="14543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B89F2-196F-3215-5CD2-22FB127A23AC}"/>
              </a:ext>
            </a:extLst>
          </p:cNvPr>
          <p:cNvSpPr txBox="1"/>
          <p:nvPr/>
        </p:nvSpPr>
        <p:spPr>
          <a:xfrm>
            <a:off x="796413" y="316739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191C4-66B0-0270-54B5-194EBB9B2209}"/>
              </a:ext>
            </a:extLst>
          </p:cNvPr>
          <p:cNvSpPr txBox="1"/>
          <p:nvPr/>
        </p:nvSpPr>
        <p:spPr>
          <a:xfrm>
            <a:off x="265471" y="303529"/>
            <a:ext cx="117572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delivery outcomes by status (Delivered, Failed, Pending, Rescheduled) — these are not a simple success/failure split, so consider what each status actually represents</a:t>
            </a:r>
            <a:r>
              <a:rPr lang="en-IN" sz="2000" b="1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20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931D31-A252-0344-ABD1-5476DDEEDF0E}"/>
              </a:ext>
            </a:extLst>
          </p:cNvPr>
          <p:cNvSpPr txBox="1"/>
          <p:nvPr/>
        </p:nvSpPr>
        <p:spPr>
          <a:xfrm>
            <a:off x="668594" y="4676990"/>
            <a:ext cx="102058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deliveries for each delivery status by grouping the deliveries based on status.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status-wise delivery count (COUNT(delivery_id)) helps understand the distribution of deliveries across different delivery outcomes.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E962D8D-9D77-9FF2-3BE9-9670007C9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578" y="1495017"/>
            <a:ext cx="5603558" cy="15485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8A5BA4-69BC-28B0-D958-31AFD5FD41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3183" y="3475166"/>
            <a:ext cx="3928959" cy="9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660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0D96B5-1AA9-6527-7255-3099CCDCBA99}"/>
              </a:ext>
            </a:extLst>
          </p:cNvPr>
          <p:cNvSpPr txBox="1"/>
          <p:nvPr/>
        </p:nvSpPr>
        <p:spPr>
          <a:xfrm>
            <a:off x="757084" y="10369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3D7C67-4678-9C43-23BF-01885D8A269A}"/>
              </a:ext>
            </a:extLst>
          </p:cNvPr>
          <p:cNvSpPr txBox="1"/>
          <p:nvPr/>
        </p:nvSpPr>
        <p:spPr>
          <a:xfrm>
            <a:off x="757084" y="29057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CE87B7-068D-594E-4111-99C96D37E1B2}"/>
              </a:ext>
            </a:extLst>
          </p:cNvPr>
          <p:cNvSpPr txBox="1"/>
          <p:nvPr/>
        </p:nvSpPr>
        <p:spPr>
          <a:xfrm>
            <a:off x="757084" y="276164"/>
            <a:ext cx="91636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Identify areas with higher delivery activity or poorer outcomes.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CD4BB6-11E5-614D-2778-9AEDD5793F3F}"/>
              </a:ext>
            </a:extLst>
          </p:cNvPr>
          <p:cNvSpPr txBox="1"/>
          <p:nvPr/>
        </p:nvSpPr>
        <p:spPr>
          <a:xfrm>
            <a:off x="757084" y="4774586"/>
            <a:ext cx="93111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</a:t>
            </a:r>
            <a:r>
              <a:rPr lang="en-IN" b="1" dirty="0"/>
              <a:t>total number of deliveries for each delivery zone</a:t>
            </a:r>
            <a:r>
              <a:rPr lang="en-IN" dirty="0"/>
              <a:t> by joining orders and deliveries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zone-wise delivery count (</a:t>
            </a:r>
            <a:r>
              <a:rPr lang="en-IN" b="1" dirty="0"/>
              <a:t>COUNT(delivery_id)</a:t>
            </a:r>
            <a:r>
              <a:rPr lang="en-IN" dirty="0"/>
              <a:t>) helps understand the </a:t>
            </a:r>
            <a:r>
              <a:rPr lang="en-IN" b="1" dirty="0"/>
              <a:t>delivery distribution and activity across different delivery zones</a:t>
            </a:r>
            <a:r>
              <a:rPr lang="en-IN" dirty="0"/>
              <a:t>.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97C543-BAC5-890B-9BCF-9116191E9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024" y="1110427"/>
            <a:ext cx="6785737" cy="16645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1F55DB6-C54E-78BF-5F2F-8FA72AA35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179" y="3167390"/>
            <a:ext cx="4142776" cy="1345616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0E530D67-EA73-5234-DFF5-4A23AB442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672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1B1CA6-F9F9-8FB7-5C9E-CCBC90A6BF1A}"/>
              </a:ext>
            </a:extLst>
          </p:cNvPr>
          <p:cNvSpPr txBox="1"/>
          <p:nvPr/>
        </p:nvSpPr>
        <p:spPr>
          <a:xfrm>
            <a:off x="747253" y="114874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BF5D6-D224-B109-3398-BC36E5AA8F7E}"/>
              </a:ext>
            </a:extLst>
          </p:cNvPr>
          <p:cNvSpPr txBox="1"/>
          <p:nvPr/>
        </p:nvSpPr>
        <p:spPr>
          <a:xfrm>
            <a:off x="747253" y="267598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0966A-AB97-E997-A0CF-4A8CD3A69BFC}"/>
              </a:ext>
            </a:extLst>
          </p:cNvPr>
          <p:cNvSpPr txBox="1"/>
          <p:nvPr/>
        </p:nvSpPr>
        <p:spPr>
          <a:xfrm>
            <a:off x="816078" y="26386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rtl="0" fontAlgn="base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delivery performance over time.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DF389B-2BAB-546D-561C-9BC680671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586" y="1035152"/>
            <a:ext cx="7511523" cy="13312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F598BE-A6A8-5045-452C-1908EF618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586" y="2780754"/>
            <a:ext cx="3700126" cy="12013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217230-5E40-EDB0-CAEA-6B9C34F747A6}"/>
              </a:ext>
            </a:extLst>
          </p:cNvPr>
          <p:cNvSpPr txBox="1"/>
          <p:nvPr/>
        </p:nvSpPr>
        <p:spPr>
          <a:xfrm>
            <a:off x="816078" y="4231923"/>
            <a:ext cx="988141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deliveries for each month and year by grouping deliveries based on the </a:t>
            </a:r>
            <a:r>
              <a:rPr lang="en-IN" dirty="0" err="1"/>
              <a:t>actual_delivery_date</a:t>
            </a:r>
            <a:r>
              <a:rPr lang="en-IN" dirty="0"/>
              <a:t>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monthly delivery count (COUNT(delivery_id)) helps understand delivery volume trends and changes in delivery activity over time.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2303F71F-2F79-CED1-4F09-9E558CFD5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310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AA16F8-C352-E1D9-D94B-FCB10A91E4CD}"/>
              </a:ext>
            </a:extLst>
          </p:cNvPr>
          <p:cNvSpPr txBox="1"/>
          <p:nvPr/>
        </p:nvSpPr>
        <p:spPr>
          <a:xfrm>
            <a:off x="855407" y="1647247"/>
            <a:ext cx="1435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E1426-E61E-4601-30FB-C298D5A51429}"/>
              </a:ext>
            </a:extLst>
          </p:cNvPr>
          <p:cNvSpPr txBox="1"/>
          <p:nvPr/>
        </p:nvSpPr>
        <p:spPr>
          <a:xfrm>
            <a:off x="855407" y="3693068"/>
            <a:ext cx="14355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62357E-E074-33CD-D4FF-15E2AAFA45FC}"/>
              </a:ext>
            </a:extLst>
          </p:cNvPr>
          <p:cNvSpPr txBox="1"/>
          <p:nvPr/>
        </p:nvSpPr>
        <p:spPr>
          <a:xfrm>
            <a:off x="619432" y="227893"/>
            <a:ext cx="75216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1000"/>
              </a:spcBef>
              <a:buNone/>
            </a:pPr>
            <a:r>
              <a:rPr lang="en-IN" sz="1800" b="1" i="0" u="none" strike="noStrike" dirty="0">
                <a:solidFill>
                  <a:schemeClr val="tx1"/>
                </a:solidFill>
                <a:effectLst/>
                <a:latin typeface="+mn-lt"/>
              </a:rPr>
              <a:t> </a:t>
            </a:r>
            <a:r>
              <a:rPr lang="en-IN" sz="2800" b="1" i="0" u="none" strike="noStrike" dirty="0">
                <a:solidFill>
                  <a:srgbClr val="C00000"/>
                </a:solidFill>
                <a:effectLst/>
                <a:latin typeface="+mn-lt"/>
              </a:rPr>
              <a:t>Understand Driver and Vehicle Performance</a:t>
            </a:r>
            <a:endParaRPr lang="en-IN" sz="28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39E67-669D-CD7E-2AA1-F96D080C95FE}"/>
              </a:ext>
            </a:extLst>
          </p:cNvPr>
          <p:cNvSpPr txBox="1"/>
          <p:nvPr/>
        </p:nvSpPr>
        <p:spPr>
          <a:xfrm>
            <a:off x="766915" y="900319"/>
            <a:ext cx="82001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the number of deliveries handled by drivers.</a:t>
            </a:r>
            <a:endParaRPr lang="en-IN" sz="24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35B36B-5896-59A3-95BA-AC6E1EE50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462" y="1647248"/>
            <a:ext cx="4806080" cy="13321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D23153-DBE5-0B22-4DE8-3B3235B8C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956" y="3590308"/>
            <a:ext cx="3704629" cy="932531"/>
          </a:xfrm>
          <a:prstGeom prst="rect">
            <a:avLst/>
          </a:prstGeom>
        </p:spPr>
      </p:pic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C6707005-B04E-F4D4-5265-3640A325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46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19866C-348A-B76A-E4CE-FAC4945AABC7}"/>
              </a:ext>
            </a:extLst>
          </p:cNvPr>
          <p:cNvSpPr txBox="1"/>
          <p:nvPr/>
        </p:nvSpPr>
        <p:spPr>
          <a:xfrm>
            <a:off x="786580" y="106574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6D8AA-0A13-BA6C-0013-FF85B3DF12DF}"/>
              </a:ext>
            </a:extLst>
          </p:cNvPr>
          <p:cNvSpPr txBox="1"/>
          <p:nvPr/>
        </p:nvSpPr>
        <p:spPr>
          <a:xfrm>
            <a:off x="786580" y="325792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2EFACD-0BCB-E8A0-90EB-E524C5B0F79D}"/>
              </a:ext>
            </a:extLst>
          </p:cNvPr>
          <p:cNvSpPr txBox="1"/>
          <p:nvPr/>
        </p:nvSpPr>
        <p:spPr>
          <a:xfrm>
            <a:off x="786580" y="325326"/>
            <a:ext cx="8898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driver performance across delivery outcomes.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E26760-824E-BEED-D934-6CDE3117B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15" y="1263607"/>
            <a:ext cx="4198134" cy="16249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2ECFFD-7081-E5A2-8A5D-A6C5F906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067" y="3225973"/>
            <a:ext cx="4343513" cy="1060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C7DA8BF-1D21-BC12-A578-1954CF1651E2}"/>
              </a:ext>
            </a:extLst>
          </p:cNvPr>
          <p:cNvSpPr txBox="1"/>
          <p:nvPr/>
        </p:nvSpPr>
        <p:spPr>
          <a:xfrm>
            <a:off x="776747" y="4587081"/>
            <a:ext cx="10869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number of deliveries for each status handled by each driver using the deliveries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driver-wise status count (COUNT(*)) helps compare delivery outcomes across different drivers and understand their delivery performance.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8079EEB3-EF63-18D6-37FA-A25BDF045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84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027E25-6D7B-85BB-5E18-42B62E62D831}"/>
              </a:ext>
            </a:extLst>
          </p:cNvPr>
          <p:cNvSpPr txBox="1"/>
          <p:nvPr/>
        </p:nvSpPr>
        <p:spPr>
          <a:xfrm>
            <a:off x="648930" y="114224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12425-3DC7-F25B-E11F-758FB62A1CF3}"/>
              </a:ext>
            </a:extLst>
          </p:cNvPr>
          <p:cNvSpPr txBox="1"/>
          <p:nvPr/>
        </p:nvSpPr>
        <p:spPr>
          <a:xfrm>
            <a:off x="648930" y="28227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BEA597-A576-B9C1-FAC6-7C7823E6B44E}"/>
              </a:ext>
            </a:extLst>
          </p:cNvPr>
          <p:cNvSpPr txBox="1"/>
          <p:nvPr/>
        </p:nvSpPr>
        <p:spPr>
          <a:xfrm>
            <a:off x="648930" y="30566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Examine delivery duration across drivers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047A6F-3B96-4A85-778D-464597733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380" y="1287746"/>
            <a:ext cx="5585787" cy="10441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1414358-348C-EE1E-D941-B96B37697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2367" y="2687405"/>
            <a:ext cx="3462019" cy="128441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FF318D-34A0-2A6F-9CCE-F3770B0E87E9}"/>
              </a:ext>
            </a:extLst>
          </p:cNvPr>
          <p:cNvSpPr txBox="1"/>
          <p:nvPr/>
        </p:nvSpPr>
        <p:spPr>
          <a:xfrm>
            <a:off x="648930" y="4503226"/>
            <a:ext cx="105106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calculates the average delivery time for each driver by grouping deliveries based on </a:t>
            </a:r>
            <a:r>
              <a:rPr lang="en-IN" dirty="0" err="1"/>
              <a:t>driver_id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driver-wise average delivery time (AVG(</a:t>
            </a:r>
            <a:r>
              <a:rPr lang="en-IN" dirty="0" err="1"/>
              <a:t>delivery_duration_min</a:t>
            </a:r>
            <a:r>
              <a:rPr lang="en-IN" dirty="0"/>
              <a:t>)) helps understand delivery time performance across different drivers.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3DB6A938-3B81-FDD8-E86C-4213D58156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99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BEF94E-71FA-41C7-84C2-700C74FA6CF5}"/>
              </a:ext>
            </a:extLst>
          </p:cNvPr>
          <p:cNvSpPr txBox="1"/>
          <p:nvPr/>
        </p:nvSpPr>
        <p:spPr>
          <a:xfrm>
            <a:off x="1022554" y="898596"/>
            <a:ext cx="12781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798890-EF67-55E4-94B2-D1728B037501}"/>
              </a:ext>
            </a:extLst>
          </p:cNvPr>
          <p:cNvSpPr txBox="1"/>
          <p:nvPr/>
        </p:nvSpPr>
        <p:spPr>
          <a:xfrm>
            <a:off x="1022554" y="2905780"/>
            <a:ext cx="138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5E17F5-10EB-5D9C-1F03-AC42D12D3B72}"/>
              </a:ext>
            </a:extLst>
          </p:cNvPr>
          <p:cNvSpPr txBox="1"/>
          <p:nvPr/>
        </p:nvSpPr>
        <p:spPr>
          <a:xfrm>
            <a:off x="1022554" y="227003"/>
            <a:ext cx="7678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vehicle usage across different vehicle types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586509-20D6-2D39-B09B-0055C2472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04" y="1106517"/>
            <a:ext cx="4339461" cy="13814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5E4B59-3C7B-752B-913D-B46CAE61E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3957" y="3052523"/>
            <a:ext cx="3110430" cy="9098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A0EA20-F353-34F5-C976-0E78C5A9B97F}"/>
              </a:ext>
            </a:extLst>
          </p:cNvPr>
          <p:cNvSpPr txBox="1"/>
          <p:nvPr/>
        </p:nvSpPr>
        <p:spPr>
          <a:xfrm>
            <a:off x="1022554" y="4370071"/>
            <a:ext cx="1028454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deliveries handled by each vehicle type by joining deliveries and vehicles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vehicle-wise delivery count (COUNT(*)) helps understand vehicle usage and delivery activity across different vehicle types.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EF7B73BF-7500-B0BD-F853-3B409EC73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832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A8E2E0C-4649-62CC-6441-AD3763F6FD6E}"/>
              </a:ext>
            </a:extLst>
          </p:cNvPr>
          <p:cNvSpPr txBox="1"/>
          <p:nvPr/>
        </p:nvSpPr>
        <p:spPr>
          <a:xfrm>
            <a:off x="953729" y="1165425"/>
            <a:ext cx="13568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401CCD-8F14-CB20-0511-47F4E4DE8360}"/>
              </a:ext>
            </a:extLst>
          </p:cNvPr>
          <p:cNvSpPr txBox="1"/>
          <p:nvPr/>
        </p:nvSpPr>
        <p:spPr>
          <a:xfrm>
            <a:off x="963562" y="2496687"/>
            <a:ext cx="1514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F8339-6443-0F72-CD71-6612A00CE2AF}"/>
              </a:ext>
            </a:extLst>
          </p:cNvPr>
          <p:cNvSpPr txBox="1"/>
          <p:nvPr/>
        </p:nvSpPr>
        <p:spPr>
          <a:xfrm>
            <a:off x="845573" y="295828"/>
            <a:ext cx="10776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Look at delivery performance across different vehicles.</a:t>
            </a:r>
            <a:endParaRPr lang="en-IN" sz="2400" b="1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4AAECA-137C-F25C-C72F-50B03E9B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30" y="1209521"/>
            <a:ext cx="5506064" cy="9710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40559B-958B-232F-D063-3EC816CD51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730" y="2613392"/>
            <a:ext cx="3559277" cy="16312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8CDD1F-69DD-784F-01DC-7B76B674DBBA}"/>
              </a:ext>
            </a:extLst>
          </p:cNvPr>
          <p:cNvSpPr txBox="1"/>
          <p:nvPr/>
        </p:nvSpPr>
        <p:spPr>
          <a:xfrm>
            <a:off x="963562" y="4472432"/>
            <a:ext cx="9753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deliveries for each vehicle type by joining deliveries and vehicles data.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vehicle-wise delivery count (COUNT(status)) helps understand the delivery activity across different vehicle types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E0AF2F88-21D6-DCD5-10C9-E9BEBFD5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839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25D7CA-CB2B-56F1-4B05-347118302CBB}"/>
              </a:ext>
            </a:extLst>
          </p:cNvPr>
          <p:cNvSpPr txBox="1"/>
          <p:nvPr/>
        </p:nvSpPr>
        <p:spPr>
          <a:xfrm>
            <a:off x="668594" y="140004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D47658-DD23-7352-A13A-27547CD73497}"/>
              </a:ext>
            </a:extLst>
          </p:cNvPr>
          <p:cNvSpPr txBox="1"/>
          <p:nvPr/>
        </p:nvSpPr>
        <p:spPr>
          <a:xfrm>
            <a:off x="570271" y="2905780"/>
            <a:ext cx="1443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29F81E-A552-AED9-7880-1D338B5E8671}"/>
              </a:ext>
            </a:extLst>
          </p:cNvPr>
          <p:cNvSpPr txBox="1"/>
          <p:nvPr/>
        </p:nvSpPr>
        <p:spPr>
          <a:xfrm>
            <a:off x="570271" y="276593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u="none" strike="noStrike" dirty="0">
                <a:solidFill>
                  <a:srgbClr val="C00000"/>
                </a:solidFill>
                <a:effectLst/>
                <a:latin typeface="+mn-lt"/>
              </a:rPr>
              <a:t>Identify Delivery Problems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DD3D5-F069-8242-6AC3-6DD6B7ACB719}"/>
              </a:ext>
            </a:extLst>
          </p:cNvPr>
          <p:cNvSpPr txBox="1"/>
          <p:nvPr/>
        </p:nvSpPr>
        <p:spPr>
          <a:xfrm>
            <a:off x="570271" y="915261"/>
            <a:ext cx="102157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Examine which deliveries required multiple attempts before succeeding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3FE62DA-40E8-DA93-0C17-4C4563674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09" y="1564368"/>
            <a:ext cx="6412336" cy="10209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A79CDBE-D125-7601-1871-D9FE3E315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7533" y="2939675"/>
            <a:ext cx="3860479" cy="11441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72F9800-0EDB-2FBC-5B16-4F14413730D4}"/>
              </a:ext>
            </a:extLst>
          </p:cNvPr>
          <p:cNvSpPr txBox="1"/>
          <p:nvPr/>
        </p:nvSpPr>
        <p:spPr>
          <a:xfrm>
            <a:off x="570271" y="4272674"/>
            <a:ext cx="99010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delivered orders that required more than one delivery attempt by filtering the deliveries with status = "Delivered".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delivery attempt count (MAX(</a:t>
            </a:r>
            <a:r>
              <a:rPr lang="en-IN" dirty="0" err="1"/>
              <a:t>delivery_attempt</a:t>
            </a:r>
            <a:r>
              <a:rPr lang="en-IN" dirty="0"/>
              <a:t>)) helps understand repeat delivery attempts required before successfully completing a delivery.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C492BEF3-84B3-DA41-CB77-05575B3721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92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70763A-EE90-3447-BC05-CC5176A57AC7}"/>
              </a:ext>
            </a:extLst>
          </p:cNvPr>
          <p:cNvSpPr txBox="1"/>
          <p:nvPr/>
        </p:nvSpPr>
        <p:spPr>
          <a:xfrm>
            <a:off x="786581" y="7904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6BDC6E-6955-8D72-3CAA-3D4E6D40AC37}"/>
              </a:ext>
            </a:extLst>
          </p:cNvPr>
          <p:cNvSpPr txBox="1"/>
          <p:nvPr/>
        </p:nvSpPr>
        <p:spPr>
          <a:xfrm>
            <a:off x="786581" y="290578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0A1EFE-86E8-5548-0A4C-B94793DF54DD}"/>
              </a:ext>
            </a:extLst>
          </p:cNvPr>
          <p:cNvSpPr txBox="1"/>
          <p:nvPr/>
        </p:nvSpPr>
        <p:spPr>
          <a:xfrm>
            <a:off x="786580" y="276164"/>
            <a:ext cx="80526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 fontAlgn="base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Identify common delivery statuses and problem patterns</a:t>
            </a: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IN" sz="800" b="0" i="0" u="none" strike="noStrike" dirty="0">
              <a:solidFill>
                <a:srgbClr val="000000"/>
              </a:solidFill>
              <a:effectLst/>
              <a:latin typeface="Noto Sans Symbol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AD5405-2B71-59E5-83A3-A4549EDE3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520" y="1014357"/>
            <a:ext cx="5673609" cy="14584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785BF2A-1D7A-1DE5-022D-1A6269D12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434" y="3045343"/>
            <a:ext cx="3701565" cy="9268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86C7912-4A88-E2A8-1E57-BF26BB7A4FE0}"/>
              </a:ext>
            </a:extLst>
          </p:cNvPr>
          <p:cNvSpPr txBox="1"/>
          <p:nvPr/>
        </p:nvSpPr>
        <p:spPr>
          <a:xfrm>
            <a:off x="653645" y="4126487"/>
            <a:ext cx="99848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total number of deliveries for each delivery status — Failed, Pending, Rescheduled, and Delivered.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status-wise delivery count (COUNT(delivery_id)) helps understand the distribution of completed and unresolved delivery outcomes in the delivery system.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3EE91947-0267-A6FB-8D51-9925B20C6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991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42ADE5-BC87-1090-8E60-7BFD44D96657}"/>
              </a:ext>
            </a:extLst>
          </p:cNvPr>
          <p:cNvSpPr txBox="1"/>
          <p:nvPr/>
        </p:nvSpPr>
        <p:spPr>
          <a:xfrm>
            <a:off x="737419" y="839602"/>
            <a:ext cx="13666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Query: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22078-1D23-DA39-32D3-F0A1A74FA9D0}"/>
              </a:ext>
            </a:extLst>
          </p:cNvPr>
          <p:cNvSpPr txBox="1"/>
          <p:nvPr/>
        </p:nvSpPr>
        <p:spPr>
          <a:xfrm>
            <a:off x="737419" y="25799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Output: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9BF2A9-5351-E1CA-CF54-720B17DBDB8B}"/>
              </a:ext>
            </a:extLst>
          </p:cNvPr>
          <p:cNvSpPr txBox="1"/>
          <p:nvPr/>
        </p:nvSpPr>
        <p:spPr>
          <a:xfrm>
            <a:off x="737418" y="217170"/>
            <a:ext cx="98715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i="0" u="none" strike="noStrike" dirty="0">
                <a:solidFill>
                  <a:schemeClr val="tx1"/>
                </a:solidFill>
                <a:effectLst/>
                <a:latin typeface="+mn-lt"/>
              </a:rPr>
              <a:t>Compare delivery performance for orders with multiple attempts.</a:t>
            </a:r>
            <a:endParaRPr lang="en-IN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3DDECC-E7B7-237E-DD11-381D03AE1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780" y="1041465"/>
            <a:ext cx="7554156" cy="11758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60AB31-3B75-7D45-CE8A-A301BECBE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780" y="2735408"/>
            <a:ext cx="3644197" cy="133759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22AB5D-85A9-BFD5-0F6B-A6D1E59D88F8}"/>
              </a:ext>
            </a:extLst>
          </p:cNvPr>
          <p:cNvSpPr txBox="1"/>
          <p:nvPr/>
        </p:nvSpPr>
        <p:spPr>
          <a:xfrm>
            <a:off x="737418" y="4502120"/>
            <a:ext cx="108056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query identifies the deliveries that required more than one delivery attempt by grouping records based on delivery_id and status. </a:t>
            </a:r>
          </a:p>
          <a:p>
            <a:pPr lvl="0"/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maximum delivery attempt (MAX(</a:t>
            </a:r>
            <a:r>
              <a:rPr lang="en-IN" dirty="0" err="1"/>
              <a:t>delivery_attempt</a:t>
            </a:r>
            <a:r>
              <a:rPr lang="en-IN" dirty="0"/>
              <a:t>)) helps understand deliveries that required repeated attempts and their final delivery status. 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3B252C25-8F1B-8227-4DFF-2A454855B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430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78ECE7-F780-F35F-56D4-75299470BC1D}"/>
              </a:ext>
            </a:extLst>
          </p:cNvPr>
          <p:cNvSpPr txBox="1"/>
          <p:nvPr/>
        </p:nvSpPr>
        <p:spPr>
          <a:xfrm>
            <a:off x="717754" y="523257"/>
            <a:ext cx="56240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</a:rPr>
              <a:t>Key Insights &amp; Findings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21DDB-E8A8-8664-EE69-F965FC199D4D}"/>
              </a:ext>
            </a:extLst>
          </p:cNvPr>
          <p:cNvSpPr txBox="1"/>
          <p:nvPr/>
        </p:nvSpPr>
        <p:spPr>
          <a:xfrm>
            <a:off x="717754" y="1997839"/>
            <a:ext cx="965527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Identified customer ordering patterns and repeat customers.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Analyzed delivery performance and multiple delivery attempts.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Found problematic zones and delivery issues affecting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Compared business vs. individual customers based on order activity. </a:t>
            </a:r>
          </a:p>
          <a:p>
            <a:pPr lvl="0"/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Used SQL analysis to identify patterns that can support better business decisions. </a:t>
            </a:r>
          </a:p>
        </p:txBody>
      </p:sp>
    </p:spTree>
    <p:extLst>
      <p:ext uri="{BB962C8B-B14F-4D97-AF65-F5344CB8AC3E}">
        <p14:creationId xmlns:p14="http://schemas.microsoft.com/office/powerpoint/2010/main" val="3031795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AA26E38-E95B-129B-8041-C7D11B371DFD}"/>
              </a:ext>
            </a:extLst>
          </p:cNvPr>
          <p:cNvSpPr txBox="1"/>
          <p:nvPr/>
        </p:nvSpPr>
        <p:spPr>
          <a:xfrm>
            <a:off x="1179871" y="58827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Challenges / Experiences: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682B27-9210-7409-15B9-0037A25CA5E7}"/>
              </a:ext>
            </a:extLst>
          </p:cNvPr>
          <p:cNvSpPr txBox="1"/>
          <p:nvPr/>
        </p:nvSpPr>
        <p:spPr>
          <a:xfrm>
            <a:off x="1101213" y="1296164"/>
            <a:ext cx="10835148" cy="428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Learned real-time database design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Worked with multiple related tables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Practiced SQL joins and aggregate queries</a:t>
            </a:r>
            <a:endParaRPr lang="en-AE" sz="2000" b="1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Creating correct foreign key relationships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Maintaining data consistency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Writing complex JOIN queries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Managing date formats correctly</a:t>
            </a:r>
            <a:endParaRPr lang="en-AE" sz="2000" b="1" dirty="0"/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E" sz="2000" dirty="0"/>
              <a:t>These challenges were solved using </a:t>
            </a:r>
            <a:r>
              <a:rPr lang="en-AE" sz="2000" b="1" dirty="0"/>
              <a:t>Primary Keys, Foreign Keys, JOIN operations, GROUP BY, SUM(), AVG(), and COUNT() functions</a:t>
            </a:r>
            <a:r>
              <a:rPr lang="en-AE" sz="2000" dirty="0"/>
              <a:t>.</a:t>
            </a:r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10DE0B04-582A-3F3A-8C9B-BF9CE1F84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416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B0296D-4E48-CD66-7FCA-AD6B4280615C}"/>
              </a:ext>
            </a:extLst>
          </p:cNvPr>
          <p:cNvSpPr txBox="1"/>
          <p:nvPr/>
        </p:nvSpPr>
        <p:spPr>
          <a:xfrm>
            <a:off x="825909" y="1030801"/>
            <a:ext cx="10491019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Successfully designed and implemented a Last Mile Delivery Management System using MySQL.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Managed five interrelated tables for customers, orders, drivers, vehicles, and deliveries using Primary Keys and Foreign Keys.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Used SQL queries, JOIN operations, GROUP BY, and aggregate functions such as COUNT(), SUM(), and AVG() to </a:t>
            </a:r>
            <a:r>
              <a:rPr lang="en-IN" sz="2000" dirty="0" err="1"/>
              <a:t>analyze</a:t>
            </a:r>
            <a:r>
              <a:rPr lang="en-IN" sz="2000" dirty="0"/>
              <a:t> delivery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Generated meaningful insights into order volume, customer patterns, delivery outcomes, driver performance, vehicle usage, and delivery zone activity.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Improved understanding of relational database design, data relationships, SQL-based analysis, and real-world delivery operations.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“This project helped me understand how SQL can be used to </a:t>
            </a:r>
            <a:r>
              <a:rPr lang="en-IN" sz="2000" b="1" dirty="0" err="1"/>
              <a:t>analyze</a:t>
            </a:r>
            <a:r>
              <a:rPr lang="en-IN" sz="2000" b="1" dirty="0"/>
              <a:t> real-world delivery data and generate meaningful business insights.”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4879E8-8A0A-D9C1-8A6D-27EA4C8E6FC5}"/>
              </a:ext>
            </a:extLst>
          </p:cNvPr>
          <p:cNvSpPr txBox="1"/>
          <p:nvPr/>
        </p:nvSpPr>
        <p:spPr>
          <a:xfrm>
            <a:off x="825909" y="23186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+mn-lt"/>
              </a:rPr>
              <a:t>Conclusion : </a:t>
            </a:r>
            <a:endParaRPr lang="en-IN" sz="4000" dirty="0"/>
          </a:p>
        </p:txBody>
      </p:sp>
      <p:pic>
        <p:nvPicPr>
          <p:cNvPr id="4" name="Picture 3" descr="Data Science Course for Working Professionals - Innomatics ...">
            <a:extLst>
              <a:ext uri="{FF2B5EF4-FFF2-40B4-BE49-F238E27FC236}">
                <a16:creationId xmlns:a16="http://schemas.microsoft.com/office/drawing/2014/main" id="{CDDE204F-5E1C-7FE2-531F-076093A0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7863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A2B27D-27E2-1ADD-0D62-6088B9D4500B}"/>
              </a:ext>
            </a:extLst>
          </p:cNvPr>
          <p:cNvSpPr txBox="1"/>
          <p:nvPr/>
        </p:nvSpPr>
        <p:spPr>
          <a:xfrm>
            <a:off x="3274142" y="2330245"/>
            <a:ext cx="706939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>
                <a:latin typeface="Comic Sans MS" panose="030F0702030302020204" pitchFamily="66" charset="0"/>
              </a:rPr>
              <a:t>Thank </a:t>
            </a:r>
          </a:p>
          <a:p>
            <a:r>
              <a:rPr lang="en-IN" sz="8800" dirty="0">
                <a:latin typeface="Comic Sans MS" panose="030F0702030302020204" pitchFamily="66" charset="0"/>
              </a:rPr>
              <a:t>           You</a:t>
            </a:r>
          </a:p>
        </p:txBody>
      </p:sp>
      <p:pic>
        <p:nvPicPr>
          <p:cNvPr id="5" name="Picture 4" descr="Data Science Course for Working Professionals - Innomatics ...">
            <a:extLst>
              <a:ext uri="{FF2B5EF4-FFF2-40B4-BE49-F238E27FC236}">
                <a16:creationId xmlns:a16="http://schemas.microsoft.com/office/drawing/2014/main" id="{4EE8935B-5142-0B8A-F30C-E55B4D63B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4305" y="6124555"/>
            <a:ext cx="2768395" cy="54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9536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1089</TotalTime>
  <Words>1838</Words>
  <Application>Microsoft Office PowerPoint</Application>
  <PresentationFormat>Widescreen</PresentationFormat>
  <Paragraphs>229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Arial</vt:lpstr>
      <vt:lpstr>Calibri</vt:lpstr>
      <vt:lpstr>Calibri Light</vt:lpstr>
      <vt:lpstr>Comic Sans MS</vt:lpstr>
      <vt:lpstr>Noto Sans Symbols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rm bltr</dc:creator>
  <cp:lastModifiedBy>rm bltr</cp:lastModifiedBy>
  <cp:revision>7</cp:revision>
  <dcterms:created xsi:type="dcterms:W3CDTF">2026-08-30T09:48:55Z</dcterms:created>
  <dcterms:modified xsi:type="dcterms:W3CDTF">2026-09-04T14:02:14Z</dcterms:modified>
</cp:coreProperties>
</file>